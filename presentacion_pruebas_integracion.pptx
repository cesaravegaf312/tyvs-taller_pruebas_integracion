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50 minutos. La sesion recorre las cinco tecnicas del taller en orden de frontera creciente: mock, H2, Testcontainers, HTTP y contract testing.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Deje claro desde el principio que las cinco tecnicas no compiten: cada una ve un conjunto distinto de defectos.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Pregunte al curso: ¿a quien le ha pasado que todo pasa local y revienta al integrar? Casi todos levantan la mano. Ese es el gancho de la clase.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Insista en la ultima fila: el costo de diagnostico crece con el alcance. Por eso no se prueba todo por sistema, aunque el sistema lo vea todo.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es el momento de conectar con arquitectura limpia: la testabilidad no es un accidente, es consecuencia de haber invertido la dependencia.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slide justifica el Defecto 01 que ya se cerro en el repositorio: INVALID_AGE existe porque UNDERAGE le daba al usuario un mensaje equivocado.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punto central del bloque: la asercion que consulta la base es la que convierte esto en una prueba de integracion. Sin ella es una prueba de dominio con una base de datos al lado.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Ejercicio rapido en clase: pida que digan que asercion pondrian para el caso DUPLICATED. Respuesta: registrar dos veces y comprobar que la tabla tiene una sola fila.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Momento incomodo a proposito: muchos estudiantes creen que usar Mockito ya es integracion. Aqui se corrige explicitamente.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Tabla tomada tal cual del README del taller, para que la clase y el material digan lo mismo.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Prerrequisito real: Docker debe estar corriendo. Es el unico punto del taller que lo exige; verifiquelo con docker version antes de la clase.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dato no es teorico: esta medido y documentado en el README del taller. Si hay tiempo, corralo en vivo.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Conecte con el bloque 1: el costo de diagnostico crece con el alcance.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tabla es el corazon de por que se agrego Pact al taller. Deje que el curso intente responder antes de mostrar la columna del medio.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idea contraintuitiva: el consumidor manda. El proveedor no publica un contrato y espera que los demas se adapten; son los consumidores los que declaran lo que usan.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 hay proyector y tiempo, este experimento es el que mas convence: tres comandos y se ve el fallo que sin Pact habria llegado a produccion.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Insista: el nombre del archivo no es estilo, es configuracion. Es la causa numero uno de 'en mi maquina pasaban todas'.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slide es literalmente el formato de la matriz que deben entregar. Digalo explicitamente.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Remita al README para el detalle de la rubrica; aqui solo el mapa.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Cierre pidiendo que abran el complemento visual y ejecuten el caso duplicado en modo mock: es la mejor entrada al taller.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95728"/>
            <a:ext cx="310896" cy="2103120"/>
          </a:xfrm>
          <a:prstGeom prst="rect">
            <a:avLst/>
          </a:prstGeom>
          <a:solidFill>
            <a:srgbClr val="1751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9692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8D4E4"/>
                </a:solidFill>
                <a:latin typeface="Segoe UI"/>
              </a:rPr>
              <a:t>UNIVERSIDAD DE LA SABANA  ·  PRUEBAS Y VALIDACIÓN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95728"/>
            <a:ext cx="98755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4600" b="1" i="0">
                <a:solidFill>
                  <a:srgbClr val="FFFFFF"/>
                </a:solidFill>
                <a:latin typeface="Segoe UI"/>
              </a:rPr>
              <a:t>Pruebas de integración y de sistema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C8D4E4"/>
                </a:solidFill>
                <a:latin typeface="Segoe UI"/>
              </a:rPr>
              <a:t>Cinco maneras de probar la misma Registraduría, y qué ve cada una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9204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C8D4E4"/>
                </a:solidFill>
                <a:latin typeface="Consolas"/>
              </a:rPr>
              <a:t>Proyecto registraduria  ·  JUnit  ·  Mockito  ·  H2  ·  Testcontainers  ·  Pact  ·  Spring Boot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62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140">
                <a:solidFill>
                  <a:srgbClr val="68717F"/>
                </a:solidFill>
                <a:latin typeface="Segoe UI"/>
              </a:rPr>
              <a:t>MAPA DE LA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13232"/>
            <a:ext cx="966520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41A24"/>
                </a:solidFill>
                <a:latin typeface="Segoe UI"/>
              </a:rPr>
              <a:t>Lo que vamos a ver, y cuánto dura cada cosa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536192"/>
            <a:ext cx="1051560" cy="40640"/>
          </a:xfrm>
          <a:prstGeom prst="rect">
            <a:avLst/>
          </a:prstGeom>
          <a:solidFill>
            <a:srgbClr val="1751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13848" y="635508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8717F"/>
                </a:solidFill>
                <a:latin typeface="Consolas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3550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8717F"/>
                </a:solidFill>
                <a:latin typeface="Segoe UI"/>
              </a:rPr>
              <a:t>Pruebas y validación de software  ·  Taller de pruebas de integración y sistema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874519"/>
            <a:ext cx="384048" cy="384048"/>
          </a:xfrm>
          <a:prstGeom prst="rect">
            <a:avLst/>
          </a:prstGeom>
          <a:solidFill>
            <a:srgbClr val="1751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847088"/>
            <a:ext cx="6766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900" b="1" i="0">
                <a:solidFill>
                  <a:srgbClr val="141A24"/>
                </a:solidFill>
                <a:latin typeface="Segoe UI"/>
              </a:rPr>
              <a:t>Qué integra una prueba de integración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8717F"/>
                </a:solidFill>
                <a:latin typeface="Segoe UI"/>
              </a:rPr>
              <a:t>El vocabulario y el proyecto sobre el que trabajamos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02752" y="1901951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7518F"/>
                </a:solidFill>
                <a:latin typeface="Consolas"/>
              </a:rPr>
              <a:t>8 min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2724912"/>
            <a:ext cx="384048" cy="384048"/>
          </a:xfrm>
          <a:prstGeom prst="rect">
            <a:avLst/>
          </a:prstGeom>
          <a:solidFill>
            <a:srgbClr val="1751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697480"/>
            <a:ext cx="6766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900" b="1" i="0">
                <a:solidFill>
                  <a:srgbClr val="141A24"/>
                </a:solidFill>
                <a:latin typeface="Segoe UI"/>
              </a:rPr>
              <a:t>Integración con H2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8717F"/>
                </a:solidFill>
                <a:latin typeface="Segoe UI"/>
              </a:rPr>
              <a:t>RegistryIT: persistencia real, en memoria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275234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7518F"/>
                </a:solidFill>
                <a:latin typeface="Consolas"/>
              </a:rPr>
              <a:t>10 min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3575304"/>
            <a:ext cx="384048" cy="384048"/>
          </a:xfrm>
          <a:prstGeom prst="rect">
            <a:avLst/>
          </a:prstGeom>
          <a:solidFill>
            <a:srgbClr val="1751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547872"/>
            <a:ext cx="6766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900" b="1" i="0">
                <a:solidFill>
                  <a:srgbClr val="141A24"/>
                </a:solidFill>
                <a:latin typeface="Segoe UI"/>
              </a:rPr>
              <a:t>Dobles de prueba con Mockito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8717F"/>
                </a:solidFill>
                <a:latin typeface="Segoe UI"/>
              </a:rPr>
              <a:t>RegistryWithMockTest, y por qué no es integración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360273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7518F"/>
                </a:solidFill>
                <a:latin typeface="Consolas"/>
              </a:rPr>
              <a:t>8 min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" y="4425696"/>
            <a:ext cx="384048" cy="384048"/>
          </a:xfrm>
          <a:prstGeom prst="rect">
            <a:avLst/>
          </a:prstGeom>
          <a:solidFill>
            <a:srgbClr val="1751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398264"/>
            <a:ext cx="6766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900" b="1" i="0">
                <a:solidFill>
                  <a:srgbClr val="141A24"/>
                </a:solidFill>
                <a:latin typeface="Segoe UI"/>
              </a:rPr>
              <a:t>Testcontainers y Pact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8717F"/>
                </a:solidFill>
                <a:latin typeface="Segoe UI"/>
              </a:rPr>
              <a:t>La base de datos de verdad, y el contrato entre servicios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445312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7518F"/>
                </a:solidFill>
                <a:latin typeface="Consolas"/>
              </a:rPr>
              <a:t>14 min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" y="5276088"/>
            <a:ext cx="384048" cy="384048"/>
          </a:xfrm>
          <a:prstGeom prst="rect">
            <a:avLst/>
          </a:prstGeom>
          <a:solidFill>
            <a:srgbClr val="1751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5248655"/>
            <a:ext cx="6766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900" b="1" i="0">
                <a:solidFill>
                  <a:srgbClr val="141A24"/>
                </a:solidFill>
                <a:latin typeface="Segoe UI"/>
              </a:rPr>
              <a:t>Ejecución, matriz y entrega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8717F"/>
                </a:solidFill>
                <a:latin typeface="Segoe UI"/>
              </a:rPr>
              <a:t>mvn verify, JaCoCo y qué se califica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2752" y="5303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7518F"/>
                </a:solidFill>
                <a:latin typeface="Consolas"/>
              </a:rPr>
              <a:t>10 min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62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140">
                <a:solidFill>
                  <a:srgbClr val="68717F"/>
                </a:solidFill>
                <a:latin typeface="Segoe UI"/>
              </a:rPr>
              <a:t>POR QUÉ ESTAMOS AQUÍ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13232"/>
            <a:ext cx="966520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41A24"/>
                </a:solidFill>
                <a:latin typeface="Segoe UI"/>
              </a:rPr>
              <a:t>Todas las pruebas pasan y el sistema está roto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536192"/>
            <a:ext cx="1051560" cy="40640"/>
          </a:xfrm>
          <a:prstGeom prst="rect">
            <a:avLst/>
          </a:prstGeom>
          <a:solidFill>
            <a:srgbClr val="1751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13848" y="635508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8717F"/>
                </a:solidFill>
                <a:latin typeface="Consolas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3550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8717F"/>
                </a:solidFill>
                <a:latin typeface="Segoe UI"/>
              </a:rPr>
              <a:t>Pruebas y validación de software  ·  Taller de pruebas de integración y sistema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920240"/>
            <a:ext cx="576072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1400"/>
              </a:spcAft>
            </a:pPr>
            <a:r>
              <a:rPr sz="1800" b="0">
                <a:solidFill>
                  <a:srgbClr val="38424F"/>
                </a:solidFill>
                <a:latin typeface="Segoe UI"/>
              </a:rPr>
              <a:t>Es la situación más común en un proyecto real: </a:t>
            </a:r>
            <a:r>
              <a:rPr sz="1800" b="1">
                <a:solidFill>
                  <a:srgbClr val="141A24"/>
                </a:solidFill>
                <a:latin typeface="Segoe UI"/>
              </a:rPr>
              <a:t>cada equipo prueba su parte, todo está en verde, y la integración falla.</a:t>
            </a:r>
          </a:p>
          <a:p>
            <a:pPr>
              <a:lnSpc>
                <a:spcPct val="122000"/>
              </a:lnSpc>
              <a:spcAft>
                <a:spcPts val="1400"/>
              </a:spcAft>
            </a:pPr>
            <a:r>
              <a:rPr sz="1800" b="0">
                <a:solidFill>
                  <a:srgbClr val="38424F"/>
                </a:solidFill>
                <a:latin typeface="Segoe UI"/>
              </a:rPr>
              <a:t>Las pruebas unitarias no mienten. Simplemente contestan una pregunta más pequeña que la que usted necesita responder antes de desplegar.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800" b="0">
                <a:solidFill>
                  <a:srgbClr val="38424F"/>
                </a:solidFill>
                <a:latin typeface="Segoe UI"/>
              </a:rPr>
              <a:t>La pregunta de hoy: </a:t>
            </a:r>
            <a:r>
              <a:rPr sz="1800" b="1">
                <a:solidFill>
                  <a:srgbClr val="17518F"/>
                </a:solidFill>
                <a:latin typeface="Segoe UI"/>
              </a:rPr>
              <a:t>¿qué pasa cuando las piezas se juntan?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1965960"/>
            <a:ext cx="1920240" cy="868680"/>
          </a:xfrm>
          <a:prstGeom prst="roundRect">
            <a:avLst>
              <a:gd name="adj" fmla="val 6000"/>
            </a:avLst>
          </a:prstGeom>
          <a:solidFill>
            <a:srgbClr val="DDE8F6"/>
          </a:solidFill>
          <a:ln w="20320">
            <a:solidFill>
              <a:srgbClr val="1751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1A24"/>
                </a:solidFill>
                <a:latin typeface="Segoe UI"/>
              </a:rPr>
              <a:t>Registry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8717F"/>
                </a:solidFill>
                <a:latin typeface="Consolas"/>
              </a:rPr>
              <a:t>lógica de dominio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81160" y="1965960"/>
            <a:ext cx="1920240" cy="868680"/>
          </a:xfrm>
          <a:prstGeom prst="roundRect">
            <a:avLst>
              <a:gd name="adj" fmla="val 6000"/>
            </a:avLst>
          </a:prstGeom>
          <a:solidFill>
            <a:srgbClr val="DDE8F6"/>
          </a:solidFill>
          <a:ln w="20320">
            <a:solidFill>
              <a:srgbClr val="1751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1A24"/>
                </a:solidFill>
                <a:latin typeface="Segoe UI"/>
              </a:rPr>
              <a:t>Repository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8717F"/>
                </a:solidFill>
                <a:latin typeface="Consolas"/>
              </a:rPr>
              <a:t>SQL y JDBC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926080"/>
            <a:ext cx="4343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B6B4C"/>
                </a:solidFill>
                <a:latin typeface="Consolas"/>
              </a:rPr>
              <a:t>unitarias en verde, las dos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3429000"/>
            <a:ext cx="4343400" cy="868680"/>
          </a:xfrm>
          <a:prstGeom prst="roundRect">
            <a:avLst>
              <a:gd name="adj" fmla="val 6000"/>
            </a:avLst>
          </a:prstGeom>
          <a:solidFill>
            <a:srgbClr val="F7E3EC"/>
          </a:solidFill>
          <a:ln w="20320">
            <a:solidFill>
              <a:srgbClr val="9A2E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1A24"/>
                </a:solidFill>
                <a:latin typeface="Segoe UI"/>
              </a:rPr>
              <a:t>Registry + Repository + base de datos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8717F"/>
                </a:solidFill>
                <a:latin typeface="Consolas"/>
              </a:rPr>
              <a:t>la integración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407408"/>
            <a:ext cx="4343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5342D"/>
                </a:solidFill>
                <a:latin typeface="Consolas"/>
              </a:rPr>
              <a:t>aquí es donde aparece el defecto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0" y="4892040"/>
            <a:ext cx="4343400" cy="1005840"/>
          </a:xfrm>
          <a:prstGeom prst="rect">
            <a:avLst/>
          </a:prstGeom>
          <a:solidFill>
            <a:srgbClr val="DDE8F6"/>
          </a:solidFill>
          <a:ln w="13970">
            <a:solidFill>
              <a:srgbClr val="1751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50" b="1">
                <a:solidFill>
                  <a:srgbClr val="141A24"/>
                </a:solidFill>
                <a:latin typeface="Segoe UI"/>
              </a:rPr>
              <a:t>La regla de la sesión: </a:t>
            </a:r>
            <a:r>
              <a:rPr sz="1450" b="0">
                <a:solidFill>
                  <a:srgbClr val="38424F"/>
                </a:solidFill>
                <a:latin typeface="Segoe UI"/>
              </a:rPr>
              <a:t>Una prueba solo puede encontrar defectos en el código que realmente ejecuta.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62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140">
                <a:solidFill>
                  <a:srgbClr val="68717F"/>
                </a:solidFill>
                <a:latin typeface="Segoe UI"/>
              </a:rPr>
              <a:t>VOCABULARIO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13232"/>
            <a:ext cx="966520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41A24"/>
                </a:solidFill>
                <a:latin typeface="Segoe UI"/>
              </a:rPr>
              <a:t>Tres pruebas, tres preguntas distintas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536192"/>
            <a:ext cx="1051560" cy="40640"/>
          </a:xfrm>
          <a:prstGeom prst="rect">
            <a:avLst/>
          </a:prstGeom>
          <a:solidFill>
            <a:srgbClr val="1751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13848" y="635508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8717F"/>
                </a:solidFill>
                <a:latin typeface="Consolas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3550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8717F"/>
                </a:solidFill>
                <a:latin typeface="Segoe UI"/>
              </a:rPr>
              <a:t>Pruebas y validación de software  ·  Taller de pruebas de integración y sistema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13232" y="1920240"/>
          <a:ext cx="10762488" cy="367588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48840"/>
                <a:gridCol w="2788920"/>
                <a:gridCol w="2926080"/>
                <a:gridCol w="2898648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68717F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82296" marR="82296" marT="36576" marB="36576" anchor="ctr">
                    <a:solidFill>
                      <a:srgbClr val="DFE4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68717F"/>
                          </a:solidFill>
                          <a:latin typeface="Segoe UI"/>
                        </a:rPr>
                        <a:t>Unitaria</a:t>
                      </a:r>
                    </a:p>
                  </a:txBody>
                  <a:tcPr marL="82296" marR="82296" marT="36576" marB="36576" anchor="ctr">
                    <a:solidFill>
                      <a:srgbClr val="DFE4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68717F"/>
                          </a:solidFill>
                          <a:latin typeface="Segoe UI"/>
                        </a:rPr>
                        <a:t>De integración</a:t>
                      </a:r>
                    </a:p>
                  </a:txBody>
                  <a:tcPr marL="82296" marR="82296" marT="36576" marB="36576" anchor="ctr">
                    <a:solidFill>
                      <a:srgbClr val="DFE4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68717F"/>
                          </a:solidFill>
                          <a:latin typeface="Segoe UI"/>
                        </a:rPr>
                        <a:t>De sistema</a:t>
                      </a:r>
                    </a:p>
                  </a:txBody>
                  <a:tcPr marL="82296" marR="82296" marT="36576" marB="36576" anchor="ctr">
                    <a:solidFill>
                      <a:srgbClr val="DFE4EC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41A24"/>
                          </a:solidFill>
                          <a:latin typeface="Segoe UI"/>
                        </a:rPr>
                        <a:t>Qué pregunta</a:t>
                      </a:r>
                    </a:p>
                  </a:txBody>
                  <a:tcPr marL="82296" marR="82296" marT="36576" marB="36576" anchor="ctr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F"/>
                          </a:solidFill>
                          <a:latin typeface="Segoe UI"/>
                        </a:rPr>
                        <a:t>¿Esta clase razona bien?</a:t>
                      </a:r>
                    </a:p>
                  </a:txBody>
                  <a:tcPr marL="82296" marR="82296" marT="36576" marB="36576" anchor="ctr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F"/>
                          </a:solidFill>
                          <a:latin typeface="Segoe UI"/>
                        </a:rPr>
                        <a:t>¿Estas piezas se entienden entre sí?</a:t>
                      </a:r>
                    </a:p>
                  </a:txBody>
                  <a:tcPr marL="82296" marR="82296" marT="36576" marB="36576" anchor="ctr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F"/>
                          </a:solidFill>
                          <a:latin typeface="Segoe UI"/>
                        </a:rPr>
                        <a:t>¿El sistema se comporta como promete?</a:t>
                      </a:r>
                    </a:p>
                  </a:txBody>
                  <a:tcPr marL="82296" marR="82296" marT="36576" marB="36576" anchor="ctr">
                    <a:solidFill>
                      <a:srgbClr val="FBFCFE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41A24"/>
                          </a:solidFill>
                          <a:latin typeface="Segoe UI"/>
                        </a:rPr>
                        <a:t>Qué ejecuta</a:t>
                      </a:r>
                    </a:p>
                  </a:txBody>
                  <a:tcPr marL="82296" marR="82296" marT="36576" marB="36576" anchor="ctr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F"/>
                          </a:solidFill>
                          <a:latin typeface="Segoe UI"/>
                        </a:rPr>
                        <a:t>Una clase; el resto simulado</a:t>
                      </a:r>
                    </a:p>
                  </a:txBody>
                  <a:tcPr marL="82296" marR="82296" marT="36576" marB="36576" anchor="ctr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F"/>
                          </a:solidFill>
                          <a:latin typeface="Segoe UI"/>
                        </a:rPr>
                        <a:t>Varias capas reales, incluida la base</a:t>
                      </a:r>
                    </a:p>
                  </a:txBody>
                  <a:tcPr marL="82296" marR="82296" marT="36576" marB="36576" anchor="ctr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F"/>
                          </a:solidFill>
                          <a:latin typeface="Segoe UI"/>
                        </a:rPr>
                        <a:t>Todo, entrando por la interfaz pública</a:t>
                      </a:r>
                    </a:p>
                  </a:txBody>
                  <a:tcPr marL="82296" marR="82296" marT="36576" marB="36576" anchor="ctr">
                    <a:solidFill>
                      <a:srgbClr val="FBFCFE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41A24"/>
                          </a:solidFill>
                          <a:latin typeface="Segoe UI"/>
                        </a:rPr>
                        <a:t>Ejemplo aquí</a:t>
                      </a:r>
                    </a:p>
                  </a:txBody>
                  <a:tcPr marL="82296" marR="82296" marT="36576" marB="36576" anchor="ctr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F"/>
                          </a:solidFill>
                          <a:latin typeface="Consolas"/>
                        </a:rPr>
                        <a:t>RegistryWithMockTest</a:t>
                      </a:r>
                    </a:p>
                  </a:txBody>
                  <a:tcPr marL="82296" marR="82296" marT="36576" marB="36576" anchor="ctr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F"/>
                          </a:solidFill>
                          <a:latin typeface="Consolas"/>
                        </a:rPr>
                        <a:t>RegistryIT</a:t>
                      </a:r>
                    </a:p>
                  </a:txBody>
                  <a:tcPr marL="82296" marR="82296" marT="36576" marB="36576" anchor="ctr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F"/>
                          </a:solidFill>
                          <a:latin typeface="Consolas"/>
                        </a:rPr>
                        <a:t>RegistryControllerIT</a:t>
                      </a:r>
                    </a:p>
                  </a:txBody>
                  <a:tcPr marL="82296" marR="82296" marT="36576" marB="36576" anchor="ctr">
                    <a:solidFill>
                      <a:srgbClr val="FBFCFE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41A24"/>
                          </a:solidFill>
                          <a:latin typeface="Segoe UI"/>
                        </a:rPr>
                        <a:t>Velocidad</a:t>
                      </a:r>
                    </a:p>
                  </a:txBody>
                  <a:tcPr marL="82296" marR="82296" marT="36576" marB="36576" anchor="ctr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F"/>
                          </a:solidFill>
                          <a:latin typeface="Segoe UI"/>
                        </a:rPr>
                        <a:t>milisegundos</a:t>
                      </a:r>
                    </a:p>
                  </a:txBody>
                  <a:tcPr marL="82296" marR="82296" marT="36576" marB="36576" anchor="ctr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F"/>
                          </a:solidFill>
                          <a:latin typeface="Segoe UI"/>
                        </a:rPr>
                        <a:t>décimas de segundo</a:t>
                      </a:r>
                    </a:p>
                  </a:txBody>
                  <a:tcPr marL="82296" marR="82296" marT="36576" marB="36576" anchor="ctr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F"/>
                          </a:solidFill>
                          <a:latin typeface="Segoe UI"/>
                        </a:rPr>
                        <a:t>segundos</a:t>
                      </a:r>
                    </a:p>
                  </a:txBody>
                  <a:tcPr marL="82296" marR="82296" marT="36576" marB="36576" anchor="ctr">
                    <a:solidFill>
                      <a:srgbClr val="FBFCFE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41A24"/>
                          </a:solidFill>
                          <a:latin typeface="Segoe UI"/>
                        </a:rPr>
                        <a:t>Si falla, ¿dónde está?</a:t>
                      </a:r>
                    </a:p>
                  </a:txBody>
                  <a:tcPr marL="82296" marR="82296" marT="36576" marB="36576" anchor="ctr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F"/>
                          </a:solidFill>
                          <a:latin typeface="Segoe UI"/>
                        </a:rPr>
                        <a:t>En esa clase</a:t>
                      </a:r>
                    </a:p>
                  </a:txBody>
                  <a:tcPr marL="82296" marR="82296" marT="36576" marB="36576" anchor="ctr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F"/>
                          </a:solidFill>
                          <a:latin typeface="Segoe UI"/>
                        </a:rPr>
                        <a:t>En la conversación entre capas</a:t>
                      </a:r>
                    </a:p>
                  </a:txBody>
                  <a:tcPr marL="82296" marR="82296" marT="36576" marB="36576" anchor="ctr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F"/>
                          </a:solidFill>
                          <a:latin typeface="Segoe UI"/>
                        </a:rPr>
                        <a:t>En algún lugar del sistema</a:t>
                      </a:r>
                    </a:p>
                  </a:txBody>
                  <a:tcPr marL="82296" marR="82296" marT="36576" marB="36576" anchor="ctr">
                    <a:solidFill>
                      <a:srgbClr val="FBFCFE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13232" y="5532120"/>
            <a:ext cx="10762488" cy="658368"/>
          </a:xfrm>
          <a:prstGeom prst="rect">
            <a:avLst/>
          </a:prstGeom>
          <a:solidFill>
            <a:srgbClr val="DDE8F6"/>
          </a:solidFill>
          <a:ln w="13970">
            <a:solidFill>
              <a:srgbClr val="1751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500" b="1">
                <a:solidFill>
                  <a:srgbClr val="141A24"/>
                </a:solidFill>
                <a:latin typeface="Segoe UI"/>
              </a:rPr>
              <a:t>El nombre de una prueba </a:t>
            </a:r>
            <a:r>
              <a:rPr sz="1500" b="0">
                <a:solidFill>
                  <a:srgbClr val="38424F"/>
                </a:solidFill>
                <a:latin typeface="Segoe UI"/>
              </a:rPr>
              <a:t>no dice cuántas clases toca, sino cuántas fronteras cruza sin fingir ninguna.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62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140">
                <a:solidFill>
                  <a:srgbClr val="68717F"/>
                </a:solidFill>
                <a:latin typeface="Segoe UI"/>
              </a:rPr>
              <a:t>EL PROYECTO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13232"/>
            <a:ext cx="966520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41A24"/>
                </a:solidFill>
                <a:latin typeface="Segoe UI"/>
              </a:rPr>
              <a:t>La Registraduría, en capas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536192"/>
            <a:ext cx="1051560" cy="40640"/>
          </a:xfrm>
          <a:prstGeom prst="rect">
            <a:avLst/>
          </a:prstGeom>
          <a:solidFill>
            <a:srgbClr val="1751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13848" y="635508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8717F"/>
                </a:solidFill>
                <a:latin typeface="Consolas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3550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8717F"/>
                </a:solidFill>
                <a:latin typeface="Segoe UI"/>
              </a:rPr>
              <a:t>Pruebas y validación de software  ·  Taller de pruebas de integración y sistema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057400"/>
            <a:ext cx="2286000" cy="868680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20320">
            <a:solidFill>
              <a:srgbClr val="BEC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1A24"/>
                </a:solidFill>
                <a:latin typeface="Segoe UI"/>
              </a:rPr>
              <a:t>RegistryController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8717F"/>
                </a:solidFill>
                <a:latin typeface="Consolas"/>
              </a:rPr>
              <a:t>delivery / rest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02152" y="2057400"/>
            <a:ext cx="2286000" cy="868680"/>
          </a:xfrm>
          <a:prstGeom prst="roundRect">
            <a:avLst>
              <a:gd name="adj" fmla="val 6000"/>
            </a:avLst>
          </a:prstGeom>
          <a:solidFill>
            <a:srgbClr val="DDE8F6"/>
          </a:solidFill>
          <a:ln w="20320">
            <a:solidFill>
              <a:srgbClr val="1751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1A24"/>
                </a:solidFill>
                <a:latin typeface="Segoe UI"/>
              </a:rPr>
              <a:t>Registry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8717F"/>
                </a:solidFill>
                <a:latin typeface="Consolas"/>
              </a:rPr>
              <a:t>application / usecase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2057400"/>
            <a:ext cx="2286000" cy="868680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20320">
            <a:solidFill>
              <a:srgbClr val="BEC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1A24"/>
                </a:solidFill>
                <a:latin typeface="Segoe UI"/>
              </a:rPr>
              <a:t>RegistryRepository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8717F"/>
                </a:solidFill>
                <a:latin typeface="Consolas"/>
              </a:rPr>
              <a:t>infrastructure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79992" y="2057400"/>
            <a:ext cx="2331720" cy="868680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20320">
            <a:solidFill>
              <a:srgbClr val="BEC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1A24"/>
                </a:solidFill>
                <a:latin typeface="Segoe UI"/>
              </a:rPr>
              <a:t>H2  /  PostgreSQL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8717F"/>
                </a:solidFill>
                <a:latin typeface="Consolas"/>
              </a:rPr>
              <a:t>el motor de verdad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999232" y="2487168"/>
            <a:ext cx="502920" cy="0"/>
          </a:xfrm>
          <a:prstGeom prst="line">
            <a:avLst/>
          </a:prstGeom>
          <a:ln w="22225">
            <a:solidFill>
              <a:srgbClr val="1751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788152" y="2487168"/>
            <a:ext cx="502920" cy="0"/>
          </a:xfrm>
          <a:prstGeom prst="line">
            <a:avLst/>
          </a:prstGeom>
          <a:ln w="22225">
            <a:solidFill>
              <a:srgbClr val="1751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577072" y="2487168"/>
            <a:ext cx="502920" cy="0"/>
          </a:xfrm>
          <a:prstGeom prst="line">
            <a:avLst/>
          </a:prstGeom>
          <a:ln w="22225">
            <a:solidFill>
              <a:srgbClr val="1751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907791" y="2953512"/>
            <a:ext cx="685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8717F"/>
                </a:solidFill>
                <a:latin typeface="Consolas"/>
              </a:rPr>
              <a:t>llama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59552" y="2953512"/>
            <a:ext cx="960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7518F"/>
                </a:solidFill>
                <a:latin typeface="Consolas"/>
              </a:rPr>
              <a:t>puerto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192" y="2953512"/>
            <a:ext cx="868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8717F"/>
                </a:solidFill>
                <a:latin typeface="Consolas"/>
              </a:rPr>
              <a:t>JDBC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98464" y="1801368"/>
            <a:ext cx="17780" cy="1417320"/>
          </a:xfrm>
          <a:prstGeom prst="rect">
            <a:avLst/>
          </a:prstGeom>
          <a:solidFill>
            <a:srgbClr val="9A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45152" y="1554480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2E63"/>
                </a:solidFill>
                <a:latin typeface="Consolas"/>
              </a:rPr>
              <a:t>RegistryRepositoryPort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3977639"/>
            <a:ext cx="55778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1200"/>
              </a:spcAft>
            </a:pPr>
            <a:r>
              <a:rPr sz="1800" b="1">
                <a:solidFill>
                  <a:srgbClr val="141A24"/>
                </a:solidFill>
                <a:latin typeface="Segoe UI"/>
              </a:rPr>
              <a:t>El puerto es una interfaz, y es la bisagra de todo el taller.</a:t>
            </a:r>
          </a:p>
          <a:p>
            <a:pPr>
              <a:lnSpc>
                <a:spcPct val="122000"/>
              </a:lnSpc>
              <a:spcAft>
                <a:spcPts val="1200"/>
              </a:spcAft>
            </a:pPr>
            <a:r>
              <a:rPr sz="1700" b="0">
                <a:solidFill>
                  <a:srgbClr val="38424F"/>
                </a:solidFill>
                <a:latin typeface="Consolas"/>
              </a:rPr>
              <a:t>Registry</a:t>
            </a:r>
            <a:r>
              <a:rPr sz="1700" b="0">
                <a:solidFill>
                  <a:srgbClr val="38424F"/>
                </a:solidFill>
                <a:latin typeface="Segoe UI"/>
              </a:rPr>
              <a:t> no sabe si al otro lado hay JDBC, un contenedor de PostgreSQL o un objeto de Mockito. Por eso el </a:t>
            </a:r>
            <a:r>
              <a:rPr sz="1700" b="1">
                <a:solidFill>
                  <a:srgbClr val="141A24"/>
                </a:solidFill>
                <a:latin typeface="Segoe UI"/>
              </a:rPr>
              <a:t>mismo caso de uso</a:t>
            </a:r>
            <a:r>
              <a:rPr sz="1700" b="0">
                <a:solidFill>
                  <a:srgbClr val="38424F"/>
                </a:solidFill>
                <a:latin typeface="Segoe UI"/>
              </a:rPr>
              <a:t> se puede probar de cinco maneras sin cambiar una línea de producción.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3977639"/>
            <a:ext cx="475488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1" i="0">
                <a:solidFill>
                  <a:srgbClr val="68717F"/>
                </a:solidFill>
                <a:latin typeface="Segoe UI"/>
              </a:rPr>
              <a:t>SIN EL PUERTO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600" b="0">
                <a:solidFill>
                  <a:srgbClr val="38424F"/>
                </a:solidFill>
                <a:latin typeface="Segoe UI"/>
              </a:rPr>
              <a:t>Habría que levantar una base de datos </a:t>
            </a:r>
            <a:r>
              <a:rPr sz="1600" b="1">
                <a:solidFill>
                  <a:srgbClr val="141A24"/>
                </a:solidFill>
                <a:latin typeface="Segoe UI"/>
              </a:rPr>
              <a:t>incluso para probar que un menor de edad no puede votar.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62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140">
                <a:solidFill>
                  <a:srgbClr val="68717F"/>
                </a:solidFill>
                <a:latin typeface="Segoe UI"/>
              </a:rPr>
              <a:t>EL DOMINIO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13232"/>
            <a:ext cx="966520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41A24"/>
                </a:solidFill>
                <a:latin typeface="Segoe UI"/>
              </a:rPr>
              <a:t>Seis resultados, y el orden en que se deciden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536192"/>
            <a:ext cx="1051560" cy="40640"/>
          </a:xfrm>
          <a:prstGeom prst="rect">
            <a:avLst/>
          </a:prstGeom>
          <a:solidFill>
            <a:srgbClr val="1751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13848" y="635508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8717F"/>
                </a:solidFill>
                <a:latin typeface="Consolas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3550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8717F"/>
                </a:solidFill>
                <a:latin typeface="Segoe UI"/>
              </a:rPr>
              <a:t>Pruebas y validación de software  ·  Taller de pruebas de integración y sistema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920240"/>
            <a:ext cx="6080760" cy="3337560"/>
          </a:xfrm>
          <a:prstGeom prst="rect">
            <a:avLst/>
          </a:prstGeom>
          <a:solidFill>
            <a:srgbClr val="FBFCFE"/>
          </a:solidFill>
          <a:ln w="12700">
            <a:solidFill>
              <a:srgbClr val="BEC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91440" bIns="91440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50" b="1" i="0">
                <a:solidFill>
                  <a:srgbClr val="68717F"/>
                </a:solidFill>
                <a:latin typeface="Consolas"/>
              </a:rPr>
              <a:t>Registry.registerVoter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300" b="0" i="0">
                <a:solidFill>
                  <a:srgbClr val="38424F"/>
                </a:solidFill>
                <a:latin typeface="Consolas"/>
              </a:rPr>
              <a:t>public RegisterResult registerVoter(Person p) {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300" b="0" i="0">
                <a:solidFill>
                  <a:srgbClr val="38424F"/>
                </a:solidFill>
                <a:latin typeface="Consolas"/>
              </a:rPr>
              <a:t>  if (p == null)              return INVALID;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300" b="0" i="0">
                <a:solidFill>
                  <a:srgbClr val="38424F"/>
                </a:solidFill>
                <a:latin typeface="Consolas"/>
              </a:rPr>
              <a:t>  if (p.getId() &lt;= 0)         return INVALID;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300" b="0" i="0">
                <a:solidFill>
                  <a:srgbClr val="38424F"/>
                </a:solidFill>
                <a:latin typeface="Consolas"/>
              </a:rPr>
              <a:t>  if (!p.isAlive())           return DEAD;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17518F"/>
                </a:solidFill>
                <a:latin typeface="Consolas"/>
              </a:rPr>
              <a:t>  if (p.getAge() &lt; 0 ||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17518F"/>
                </a:solidFill>
                <a:latin typeface="Consolas"/>
              </a:rPr>
              <a:t>      p.getAge() &gt; MAX_AGE)   return INVALID_AGE;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17518F"/>
                </a:solidFill>
                <a:latin typeface="Consolas"/>
              </a:rPr>
              <a:t>  if (p.getAge() &lt; MIN_AGE)   return UNDERAGE;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300" b="0" i="0">
                <a:solidFill>
                  <a:srgbClr val="38424F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300" b="0" i="0">
                <a:solidFill>
                  <a:srgbClr val="38424F"/>
                </a:solidFill>
                <a:latin typeface="Consolas"/>
              </a:rPr>
              <a:t>  if (repo.existsById(p.getId()))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300" b="0" i="0">
                <a:solidFill>
                  <a:srgbClr val="38424F"/>
                </a:solidFill>
                <a:latin typeface="Consolas"/>
              </a:rPr>
              <a:t>                              return DUPLICATED;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300" b="0" i="0">
                <a:solidFill>
                  <a:srgbClr val="38424F"/>
                </a:solidFill>
                <a:latin typeface="Consolas"/>
              </a:rPr>
              <a:t>  repo.save(...);             return VALID;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300" b="0" i="0">
                <a:solidFill>
                  <a:srgbClr val="38424F"/>
                </a:solidFill>
                <a:latin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78040" y="1920240"/>
            <a:ext cx="429768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00" b="1">
                <a:solidFill>
                  <a:srgbClr val="141A24"/>
                </a:solidFill>
                <a:latin typeface="Segoe UI"/>
              </a:rPr>
              <a:t>El orden no es cosmético.</a:t>
            </a:r>
          </a:p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500" b="0">
                <a:solidFill>
                  <a:srgbClr val="38424F"/>
                </a:solidFill>
                <a:latin typeface="Segoe UI"/>
              </a:rPr>
              <a:t>Una edad de </a:t>
            </a:r>
            <a:r>
              <a:rPr sz="1500" b="0">
                <a:solidFill>
                  <a:srgbClr val="38424F"/>
                </a:solidFill>
                <a:latin typeface="Consolas"/>
              </a:rPr>
              <a:t>-1</a:t>
            </a:r>
            <a:r>
              <a:rPr sz="1500" b="0">
                <a:solidFill>
                  <a:srgbClr val="38424F"/>
                </a:solidFill>
                <a:latin typeface="Segoe UI"/>
              </a:rPr>
              <a:t> es un dato </a:t>
            </a:r>
            <a:r>
              <a:rPr sz="1500" b="1">
                <a:solidFill>
                  <a:srgbClr val="141A24"/>
                </a:solidFill>
                <a:latin typeface="Segoe UI"/>
              </a:rPr>
              <a:t>imposible</a:t>
            </a:r>
            <a:r>
              <a:rPr sz="1500" b="0">
                <a:solidFill>
                  <a:srgbClr val="38424F"/>
                </a:solidFill>
                <a:latin typeface="Segoe UI"/>
              </a:rPr>
              <a:t>; una de </a:t>
            </a:r>
            <a:r>
              <a:rPr sz="1500" b="0">
                <a:solidFill>
                  <a:srgbClr val="38424F"/>
                </a:solidFill>
                <a:latin typeface="Consolas"/>
              </a:rPr>
              <a:t>17</a:t>
            </a:r>
            <a:r>
              <a:rPr sz="1500" b="0">
                <a:solidFill>
                  <a:srgbClr val="38424F"/>
                </a:solidFill>
                <a:latin typeface="Segoe UI"/>
              </a:rPr>
              <a:t> es un dato </a:t>
            </a:r>
            <a:r>
              <a:rPr sz="1500" b="1">
                <a:solidFill>
                  <a:srgbClr val="141A24"/>
                </a:solidFill>
                <a:latin typeface="Segoe UI"/>
              </a:rPr>
              <a:t>correcto</a:t>
            </a:r>
            <a:r>
              <a:rPr sz="1500" b="0">
                <a:solidFill>
                  <a:srgbClr val="38424F"/>
                </a:solidFill>
                <a:latin typeface="Segoe UI"/>
              </a:rPr>
              <a:t> de alguien que todavía no puede votar.</a:t>
            </a:r>
          </a:p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500" b="0">
                <a:solidFill>
                  <a:srgbClr val="38424F"/>
                </a:solidFill>
                <a:latin typeface="Segoe UI"/>
              </a:rPr>
              <a:t>Lo primero se corrige; lo segundo se espera. Invertir las guardas le diría a una persona con un dato mal capturado que espere a cumplir años.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500" b="0">
                <a:solidFill>
                  <a:srgbClr val="38424F"/>
                </a:solidFill>
                <a:latin typeface="Segoe UI"/>
              </a:rPr>
              <a:t>Y una persona de 15 años fallecida devuelve </a:t>
            </a:r>
            <a:r>
              <a:rPr sz="1500" b="0">
                <a:solidFill>
                  <a:srgbClr val="141A24"/>
                </a:solidFill>
                <a:latin typeface="Consolas"/>
              </a:rPr>
              <a:t>DEAD</a:t>
            </a:r>
            <a:r>
              <a:rPr sz="1500" b="0">
                <a:solidFill>
                  <a:srgbClr val="38424F"/>
                </a:solidFill>
                <a:latin typeface="Segoe UI"/>
              </a:rPr>
              <a:t>, no </a:t>
            </a:r>
            <a:r>
              <a:rPr sz="1500" b="0">
                <a:solidFill>
                  <a:srgbClr val="141A24"/>
                </a:solidFill>
                <a:latin typeface="Consolas"/>
              </a:rPr>
              <a:t>UNDERAGE</a:t>
            </a:r>
            <a:r>
              <a:rPr sz="1500" b="0">
                <a:solidFill>
                  <a:srgbClr val="38424F"/>
                </a:solidFill>
                <a:latin typeface="Segoe UI"/>
              </a:rPr>
              <a:t>: la guarda de </a:t>
            </a:r>
            <a:r>
              <a:rPr sz="1500" b="0">
                <a:solidFill>
                  <a:srgbClr val="38424F"/>
                </a:solidFill>
                <a:latin typeface="Consolas"/>
              </a:rPr>
              <a:t>alive</a:t>
            </a:r>
            <a:r>
              <a:rPr sz="1500" b="0">
                <a:solidFill>
                  <a:srgbClr val="38424F"/>
                </a:solidFill>
                <a:latin typeface="Segoe UI"/>
              </a:rPr>
              <a:t> corta antes.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5504688"/>
            <a:ext cx="10762488" cy="713232"/>
          </a:xfrm>
          <a:prstGeom prst="rect">
            <a:avLst/>
          </a:prstGeom>
          <a:solidFill>
            <a:srgbClr val="DDE8F6"/>
          </a:solidFill>
          <a:ln w="13970">
            <a:solidFill>
              <a:srgbClr val="1751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500" b="1">
                <a:solidFill>
                  <a:srgbClr val="141A24"/>
                </a:solidFill>
                <a:latin typeface="Segoe UI"/>
              </a:rPr>
              <a:t>Para la matriz de pruebas: </a:t>
            </a:r>
            <a:r>
              <a:rPr sz="1500" b="0">
                <a:solidFill>
                  <a:srgbClr val="38424F"/>
                </a:solidFill>
                <a:latin typeface="Segoe UI"/>
              </a:rPr>
              <a:t>cada guarda es una clase de equivalencia, y cada clase de equivalencia necesita su caso de prueba.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62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140">
                <a:solidFill>
                  <a:srgbClr val="68717F"/>
                </a:solidFill>
                <a:latin typeface="Segoe UI"/>
              </a:rPr>
              <a:t>BLOQUE 2  ·  INTEGRACIÓN CON H2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13232"/>
            <a:ext cx="966520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41A24"/>
                </a:solidFill>
                <a:latin typeface="Segoe UI"/>
              </a:rPr>
              <a:t>La primera frontera real: la base de datos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536192"/>
            <a:ext cx="1051560" cy="40640"/>
          </a:xfrm>
          <a:prstGeom prst="rect">
            <a:avLst/>
          </a:prstGeom>
          <a:solidFill>
            <a:srgbClr val="1751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13848" y="635508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8717F"/>
                </a:solidFill>
                <a:latin typeface="Consolas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3550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8717F"/>
                </a:solidFill>
                <a:latin typeface="Segoe UI"/>
              </a:rPr>
              <a:t>Pruebas y validación de software  ·  Taller de pruebas de integración y sistema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920240"/>
            <a:ext cx="6400800" cy="3566160"/>
          </a:xfrm>
          <a:prstGeom prst="rect">
            <a:avLst/>
          </a:prstGeom>
          <a:solidFill>
            <a:srgbClr val="FBFCFE"/>
          </a:solidFill>
          <a:ln w="12700">
            <a:solidFill>
              <a:srgbClr val="BEC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91440" bIns="91440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50" b="1" i="0">
                <a:solidFill>
                  <a:srgbClr val="68717F"/>
                </a:solidFill>
                <a:latin typeface="Consolas"/>
              </a:rPr>
              <a:t>RegistryIT.java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250" b="0" i="0">
                <a:solidFill>
                  <a:srgbClr val="38424F"/>
                </a:solidFill>
                <a:latin typeface="Consolas"/>
              </a:rPr>
              <a:t>@Before public void setup() throws Exception {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250" b="0" i="0">
                <a:solidFill>
                  <a:srgbClr val="38424F"/>
                </a:solidFill>
                <a:latin typeface="Consolas"/>
              </a:rPr>
              <a:t>  repo = new RegistryRepository("jdbc:h2:mem:regdb...");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250" b="0" i="0">
                <a:solidFill>
                  <a:srgbClr val="38424F"/>
                </a:solidFill>
                <a:latin typeface="Consolas"/>
              </a:rPr>
              <a:t>  repo.initSchema();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250" b="0" i="0">
                <a:solidFill>
                  <a:srgbClr val="38424F"/>
                </a:solidFill>
                <a:latin typeface="Consolas"/>
              </a:rPr>
              <a:t>  repo.deleteAll();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250" b="1" i="0">
                <a:solidFill>
                  <a:srgbClr val="17518F"/>
                </a:solidFill>
                <a:latin typeface="Consolas"/>
              </a:rPr>
              <a:t>  registry = new Registry(repo);      // repositorio REAL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250" b="0" i="0">
                <a:solidFill>
                  <a:srgbClr val="38424F"/>
                </a:solidFill>
                <a:latin typeface="Consolas"/>
              </a:rPr>
              <a:t>}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250" b="0" i="0">
                <a:solidFill>
                  <a:srgbClr val="38424F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250" b="0" i="0">
                <a:solidFill>
                  <a:srgbClr val="38424F"/>
                </a:solidFill>
                <a:latin typeface="Consolas"/>
              </a:rPr>
              <a:t>@Test public void shouldRegisterValidPerson() {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250" b="0" i="0">
                <a:solidFill>
                  <a:srgbClr val="38424F"/>
                </a:solidFill>
                <a:latin typeface="Consolas"/>
              </a:rPr>
              <a:t>  Person p1 = new Person("Ana", 100, 30, FEMALE, true);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250" b="0" i="0">
                <a:solidFill>
                  <a:srgbClr val="38424F"/>
                </a:solidFill>
                <a:latin typeface="Consolas"/>
              </a:rPr>
              <a:t>  RegisterResult r = registry.registerVoter(p1);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250" b="0" i="0">
                <a:solidFill>
                  <a:srgbClr val="38424F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250" b="0" i="0">
                <a:solidFill>
                  <a:srgbClr val="38424F"/>
                </a:solidFill>
                <a:latin typeface="Consolas"/>
              </a:rPr>
              <a:t>  assertEquals(RegisterResult.VALID, r);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250" b="1" i="0">
                <a:solidFill>
                  <a:srgbClr val="17518F"/>
                </a:solidFill>
                <a:latin typeface="Consolas"/>
              </a:rPr>
              <a:t>  assertTrue(repo.existsById(100));   // vuelve a la BD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250" b="0" i="0">
                <a:solidFill>
                  <a:srgbClr val="38424F"/>
                </a:solidFill>
                <a:latin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1920240"/>
            <a:ext cx="3977639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100" b="1" i="0">
                <a:solidFill>
                  <a:srgbClr val="68717F"/>
                </a:solidFill>
                <a:latin typeface="Segoe UI"/>
              </a:rPr>
              <a:t>QUÉ SE EJECUTA DE VERDAD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 b="0">
                <a:solidFill>
                  <a:srgbClr val="17518F"/>
                </a:solidFill>
                <a:latin typeface="Segoe UI"/>
              </a:rPr>
              <a:t>— </a:t>
            </a:r>
            <a:r>
              <a:rPr sz="1600" b="0">
                <a:solidFill>
                  <a:srgbClr val="38424F"/>
                </a:solidFill>
                <a:latin typeface="Segoe UI"/>
              </a:rPr>
              <a:t>El caso de uso Registry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 b="0">
                <a:solidFill>
                  <a:srgbClr val="17518F"/>
                </a:solidFill>
                <a:latin typeface="Segoe UI"/>
              </a:rPr>
              <a:t>— </a:t>
            </a:r>
            <a:r>
              <a:rPr sz="1600" b="0">
                <a:solidFill>
                  <a:srgbClr val="38424F"/>
                </a:solidFill>
                <a:latin typeface="Segoe UI"/>
              </a:rPr>
              <a:t>El adaptador RegistryRepository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 b="0">
                <a:solidFill>
                  <a:srgbClr val="17518F"/>
                </a:solidFill>
                <a:latin typeface="Segoe UI"/>
              </a:rPr>
              <a:t>— </a:t>
            </a:r>
            <a:r>
              <a:rPr sz="1600" b="0">
                <a:solidFill>
                  <a:srgbClr val="38424F"/>
                </a:solidFill>
                <a:latin typeface="Segoe UI"/>
              </a:rPr>
              <a:t>El SQL: CREATE, SELECT, INSERT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 b="0">
                <a:solidFill>
                  <a:srgbClr val="17518F"/>
                </a:solidFill>
                <a:latin typeface="Segoe UI"/>
              </a:rPr>
              <a:t>— </a:t>
            </a:r>
            <a:r>
              <a:rPr sz="1600" b="0">
                <a:solidFill>
                  <a:srgbClr val="38424F"/>
                </a:solidFill>
                <a:latin typeface="Segoe UI"/>
              </a:rPr>
              <a:t>La transacción y su commit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 b="0">
                <a:solidFill>
                  <a:srgbClr val="17518F"/>
                </a:solidFill>
                <a:latin typeface="Segoe UI"/>
              </a:rPr>
              <a:t>— </a:t>
            </a:r>
            <a:r>
              <a:rPr sz="1600" b="0">
                <a:solidFill>
                  <a:srgbClr val="38424F"/>
                </a:solidFill>
                <a:latin typeface="Segoe UI"/>
              </a:rPr>
              <a:t>El motor H2, en memoria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79" y="4251960"/>
            <a:ext cx="3977639" cy="1234440"/>
          </a:xfrm>
          <a:prstGeom prst="rect">
            <a:avLst/>
          </a:prstGeom>
          <a:solidFill>
            <a:srgbClr val="F6EBD5"/>
          </a:solidFill>
          <a:ln w="13970">
            <a:solidFill>
              <a:srgbClr val="8B5E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50" b="1">
                <a:solidFill>
                  <a:srgbClr val="141A24"/>
                </a:solidFill>
                <a:latin typeface="Segoe UI"/>
              </a:rPr>
              <a:t>assertEquals por sí sola </a:t>
            </a:r>
            <a:r>
              <a:rPr sz="1450" b="0">
                <a:solidFill>
                  <a:srgbClr val="38424F"/>
                </a:solidFill>
                <a:latin typeface="Segoe UI"/>
              </a:rPr>
              <a:t>no prueba que se haya guardado nada. Solo la segunda línea consulta la base.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5687568"/>
            <a:ext cx="10762488" cy="621792"/>
          </a:xfrm>
          <a:prstGeom prst="rect">
            <a:avLst/>
          </a:prstGeom>
          <a:solidFill>
            <a:srgbClr val="DDE8F6"/>
          </a:solidFill>
          <a:ln w="13970">
            <a:solidFill>
              <a:srgbClr val="1751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500" b="1">
                <a:solidFill>
                  <a:srgbClr val="141A24"/>
                </a:solidFill>
                <a:latin typeface="Segoe UI"/>
              </a:rPr>
              <a:t>Fíjense en que </a:t>
            </a:r>
            <a:r>
              <a:rPr sz="1500" b="0">
                <a:solidFill>
                  <a:srgbClr val="38424F"/>
                </a:solidFill>
                <a:latin typeface="Segoe UI"/>
              </a:rPr>
              <a:t>se llama RegistryIT y no RegistryTest. El nombre decide quién la ejecuta, y lo vemos al final.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62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140">
                <a:solidFill>
                  <a:srgbClr val="68717F"/>
                </a:solidFill>
                <a:latin typeface="Segoe UI"/>
              </a:rPr>
              <a:t>BLOQUE 2  ·  LA ASERCIÓN QUE IMPORTA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13232"/>
            <a:ext cx="966520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41A24"/>
                </a:solidFill>
                <a:latin typeface="Segoe UI"/>
              </a:rPr>
              <a:t>Qué defecto encuentra cada aserción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536192"/>
            <a:ext cx="1051560" cy="40640"/>
          </a:xfrm>
          <a:prstGeom prst="rect">
            <a:avLst/>
          </a:prstGeom>
          <a:solidFill>
            <a:srgbClr val="1751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13848" y="635508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8717F"/>
                </a:solidFill>
                <a:latin typeface="Consolas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3550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8717F"/>
                </a:solidFill>
                <a:latin typeface="Segoe UI"/>
              </a:rPr>
              <a:t>Pruebas y validación de software  ·  Taller de pruebas de integración y sistema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057400"/>
            <a:ext cx="4937760" cy="914400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20320">
            <a:solidFill>
              <a:srgbClr val="BEC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1A24"/>
                </a:solidFill>
                <a:latin typeface="Segoe UI"/>
              </a:rPr>
              <a:t>assertEquals(VALID, r)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8717F"/>
                </a:solidFill>
                <a:latin typeface="Consolas"/>
              </a:rPr>
              <a:t>mira el valor devuelto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19672" y="2057400"/>
            <a:ext cx="4937760" cy="914400"/>
          </a:xfrm>
          <a:prstGeom prst="roundRect">
            <a:avLst>
              <a:gd name="adj" fmla="val 6000"/>
            </a:avLst>
          </a:prstGeom>
          <a:solidFill>
            <a:srgbClr val="DDE8F6"/>
          </a:solidFill>
          <a:ln w="20320">
            <a:solidFill>
              <a:srgbClr val="1751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1A24"/>
                </a:solidFill>
                <a:latin typeface="Segoe UI"/>
              </a:rPr>
              <a:t>assertTrue(repo.existsById(100))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8717F"/>
                </a:solidFill>
                <a:latin typeface="Consolas"/>
              </a:rPr>
              <a:t>vuelve a consultar la 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154680"/>
            <a:ext cx="49377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1" i="0">
                <a:solidFill>
                  <a:srgbClr val="68717F"/>
                </a:solidFill>
                <a:latin typeface="Segoe UI"/>
              </a:rPr>
              <a:t>SIGUE EN VERDE SI...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600" b="0">
                <a:solidFill>
                  <a:srgbClr val="A5342D"/>
                </a:solidFill>
                <a:latin typeface="Segoe UI"/>
              </a:rPr>
              <a:t>— </a:t>
            </a:r>
            <a:r>
              <a:rPr sz="1600" b="0">
                <a:solidFill>
                  <a:srgbClr val="38424F"/>
                </a:solidFill>
                <a:latin typeface="Segoe UI"/>
              </a:rPr>
              <a:t>el INSERT nunca se ejecutó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600" b="0">
                <a:solidFill>
                  <a:srgbClr val="A5342D"/>
                </a:solidFill>
                <a:latin typeface="Segoe UI"/>
              </a:rPr>
              <a:t>— </a:t>
            </a:r>
            <a:r>
              <a:rPr sz="1600" b="0">
                <a:solidFill>
                  <a:srgbClr val="38424F"/>
                </a:solidFill>
                <a:latin typeface="Segoe UI"/>
              </a:rPr>
              <a:t>la transacción hizo rollback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600" b="0">
                <a:solidFill>
                  <a:srgbClr val="A5342D"/>
                </a:solidFill>
                <a:latin typeface="Segoe UI"/>
              </a:rPr>
              <a:t>— </a:t>
            </a:r>
            <a:r>
              <a:rPr sz="1600" b="0">
                <a:solidFill>
                  <a:srgbClr val="38424F"/>
                </a:solidFill>
                <a:latin typeface="Segoe UI"/>
              </a:rPr>
              <a:t>el commit falta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600" b="0">
                <a:solidFill>
                  <a:srgbClr val="A5342D"/>
                </a:solidFill>
                <a:latin typeface="Segoe UI"/>
              </a:rPr>
              <a:t>— </a:t>
            </a:r>
            <a:r>
              <a:rPr sz="1600" b="0">
                <a:solidFill>
                  <a:srgbClr val="38424F"/>
                </a:solidFill>
                <a:latin typeface="Segoe UI"/>
              </a:rPr>
              <a:t>la tabla tiene otro nombre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9672" y="3154680"/>
            <a:ext cx="49377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1" i="0">
                <a:solidFill>
                  <a:srgbClr val="68717F"/>
                </a:solidFill>
                <a:latin typeface="Segoe UI"/>
              </a:rPr>
              <a:t>SE PONE EN ROJO SI...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600" b="0">
                <a:solidFill>
                  <a:srgbClr val="1B6B4C"/>
                </a:solidFill>
                <a:latin typeface="Segoe UI"/>
              </a:rPr>
              <a:t>— </a:t>
            </a:r>
            <a:r>
              <a:rPr sz="1600" b="0">
                <a:solidFill>
                  <a:srgbClr val="38424F"/>
                </a:solidFill>
                <a:latin typeface="Segoe UI"/>
              </a:rPr>
              <a:t>el INSERT nunca se ejecutó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600" b="0">
                <a:solidFill>
                  <a:srgbClr val="1B6B4C"/>
                </a:solidFill>
                <a:latin typeface="Segoe UI"/>
              </a:rPr>
              <a:t>— </a:t>
            </a:r>
            <a:r>
              <a:rPr sz="1600" b="0">
                <a:solidFill>
                  <a:srgbClr val="38424F"/>
                </a:solidFill>
                <a:latin typeface="Segoe UI"/>
              </a:rPr>
              <a:t>la transacción hizo rollback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600" b="0">
                <a:solidFill>
                  <a:srgbClr val="1B6B4C"/>
                </a:solidFill>
                <a:latin typeface="Segoe UI"/>
              </a:rPr>
              <a:t>— </a:t>
            </a:r>
            <a:r>
              <a:rPr sz="1600" b="0">
                <a:solidFill>
                  <a:srgbClr val="38424F"/>
                </a:solidFill>
                <a:latin typeface="Segoe UI"/>
              </a:rPr>
              <a:t>el commit falta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600" b="0">
                <a:solidFill>
                  <a:srgbClr val="1B6B4C"/>
                </a:solidFill>
                <a:latin typeface="Segoe UI"/>
              </a:rPr>
              <a:t>— </a:t>
            </a:r>
            <a:r>
              <a:rPr sz="1600" b="0">
                <a:solidFill>
                  <a:srgbClr val="38424F"/>
                </a:solidFill>
                <a:latin typeface="Segoe UI"/>
              </a:rPr>
              <a:t>el SELECT consulta la columna equivocada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486400"/>
            <a:ext cx="10762488" cy="777240"/>
          </a:xfrm>
          <a:prstGeom prst="rect">
            <a:avLst/>
          </a:prstGeom>
          <a:solidFill>
            <a:srgbClr val="DDE8F6"/>
          </a:solidFill>
          <a:ln w="13970">
            <a:solidFill>
              <a:srgbClr val="1751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550" b="0">
                <a:solidFill>
                  <a:srgbClr val="38424F"/>
                </a:solidFill>
                <a:latin typeface="Segoe UI"/>
              </a:rPr>
              <a:t>Una prueba de integración que no consulta el otro lado de la frontera no está integrando: está ejecutando código extra y afirmando lo mismo que una unitaria.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62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140">
                <a:solidFill>
                  <a:srgbClr val="68717F"/>
                </a:solidFill>
                <a:latin typeface="Segoe UI"/>
              </a:rPr>
              <a:t>BLOQUE 3  ·  DOBLES DE PRUEBA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13232"/>
            <a:ext cx="966520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41A24"/>
                </a:solidFill>
                <a:latin typeface="Segoe UI"/>
              </a:rPr>
              <a:t>Mockito: cuando no quiere la base de datos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536192"/>
            <a:ext cx="1051560" cy="40640"/>
          </a:xfrm>
          <a:prstGeom prst="rect">
            <a:avLst/>
          </a:prstGeom>
          <a:solidFill>
            <a:srgbClr val="1751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13848" y="635508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8717F"/>
                </a:solidFill>
                <a:latin typeface="Consolas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3550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8717F"/>
                </a:solidFill>
                <a:latin typeface="Segoe UI"/>
              </a:rPr>
              <a:t>Pruebas y validación de software  ·  Taller de pruebas de integración y sistema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920240"/>
            <a:ext cx="6309360" cy="3017520"/>
          </a:xfrm>
          <a:prstGeom prst="rect">
            <a:avLst/>
          </a:prstGeom>
          <a:solidFill>
            <a:srgbClr val="FBFCFE"/>
          </a:solidFill>
          <a:ln w="12700">
            <a:solidFill>
              <a:srgbClr val="BEC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91440" bIns="91440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50" b="1" i="0">
                <a:solidFill>
                  <a:srgbClr val="68717F"/>
                </a:solidFill>
                <a:latin typeface="Consolas"/>
              </a:rPr>
              <a:t>RegistryWithMockTest.java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250" b="0" i="0">
                <a:solidFill>
                  <a:srgbClr val="38424F"/>
                </a:solidFill>
                <a:latin typeface="Consolas"/>
              </a:rPr>
              <a:t>@Before public void setUp() {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250" b="1" i="0">
                <a:solidFill>
                  <a:srgbClr val="17518F"/>
                </a:solidFill>
                <a:latin typeface="Consolas"/>
              </a:rPr>
              <a:t>  repo = mock(RegistryRepositoryPort.class);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250" b="0" i="0">
                <a:solidFill>
                  <a:srgbClr val="38424F"/>
                </a:solidFill>
                <a:latin typeface="Consolas"/>
              </a:rPr>
              <a:t>  registry = new Registry(repo);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250" b="0" i="0">
                <a:solidFill>
                  <a:srgbClr val="38424F"/>
                </a:solidFill>
                <a:latin typeface="Consolas"/>
              </a:rPr>
              <a:t>}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250" b="0" i="0">
                <a:solidFill>
                  <a:srgbClr val="38424F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250" b="0" i="0">
                <a:solidFill>
                  <a:srgbClr val="38424F"/>
                </a:solidFill>
                <a:latin typeface="Consolas"/>
              </a:rPr>
              <a:t>@Test public void devuelveDuplicatedSiElRepoDiceQueExiste() {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250" b="1" i="0">
                <a:solidFill>
                  <a:srgbClr val="17518F"/>
                </a:solidFill>
                <a:latin typeface="Consolas"/>
              </a:rPr>
              <a:t>  when(repo.existsById(7)).thenReturn(true);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250" b="0" i="0">
                <a:solidFill>
                  <a:srgbClr val="38424F"/>
                </a:solidFill>
                <a:latin typeface="Consolas"/>
              </a:rPr>
              <a:t>  Person p = new Person("Ana", 7, 25, FEMALE, true);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250" b="0" i="0">
                <a:solidFill>
                  <a:srgbClr val="38424F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250" b="0" i="0">
                <a:solidFill>
                  <a:srgbClr val="38424F"/>
                </a:solidFill>
                <a:latin typeface="Consolas"/>
              </a:rPr>
              <a:t>  assertEquals(DUPLICATED, registry.registerVoter(p));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250" b="1" i="0">
                <a:solidFill>
                  <a:srgbClr val="17518F"/>
                </a:solidFill>
                <a:latin typeface="Consolas"/>
              </a:rPr>
              <a:t>  verify(repo, never()).save(anyInt(), anyString(),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250" b="1" i="0">
                <a:solidFill>
                  <a:srgbClr val="17518F"/>
                </a:solidFill>
                <a:latin typeface="Consolas"/>
              </a:rPr>
              <a:t>                            anyInt(), anyBoolean());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250" b="0" i="0">
                <a:solidFill>
                  <a:srgbClr val="38424F"/>
                </a:solidFill>
                <a:latin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1920240"/>
            <a:ext cx="406908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1200"/>
              </a:spcAft>
            </a:pPr>
            <a:r>
              <a:rPr sz="1750" b="1">
                <a:solidFill>
                  <a:srgbClr val="141A24"/>
                </a:solidFill>
                <a:latin typeface="Segoe UI"/>
              </a:rPr>
              <a:t>Cero SQL. Cero conexiones. Microsegundos.</a:t>
            </a:r>
          </a:p>
          <a:p>
            <a:pPr>
              <a:lnSpc>
                <a:spcPct val="122000"/>
              </a:lnSpc>
              <a:spcAft>
                <a:spcPts val="1200"/>
              </a:spcAft>
            </a:pPr>
            <a:r>
              <a:rPr sz="1650" b="0">
                <a:solidFill>
                  <a:srgbClr val="38424F"/>
                </a:solidFill>
                <a:latin typeface="Segoe UI"/>
              </a:rPr>
              <a:t>El mock responde </a:t>
            </a:r>
            <a:r>
              <a:rPr sz="1650" b="1">
                <a:solidFill>
                  <a:srgbClr val="9A2E63"/>
                </a:solidFill>
                <a:latin typeface="Segoe UI"/>
              </a:rPr>
              <a:t>lo que usted le dijo</a:t>
            </a:r>
            <a:r>
              <a:rPr sz="1650" b="0">
                <a:solidFill>
                  <a:srgbClr val="38424F"/>
                </a:solidFill>
                <a:latin typeface="Segoe UI"/>
              </a:rPr>
              <a:t> que respondiera. Eso es su virtud y su límite en la misma frase.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650" b="0">
                <a:solidFill>
                  <a:srgbClr val="38424F"/>
                </a:solidFill>
                <a:latin typeface="Segoe UI"/>
              </a:rPr>
              <a:t>La aserción cambia de naturaleza: ya no se afirma sobre un </a:t>
            </a:r>
            <a:r>
              <a:rPr sz="1650" b="1">
                <a:solidFill>
                  <a:srgbClr val="141A24"/>
                </a:solidFill>
                <a:latin typeface="Segoe UI"/>
              </a:rPr>
              <a:t>dato</a:t>
            </a:r>
            <a:r>
              <a:rPr sz="1650" b="0">
                <a:solidFill>
                  <a:srgbClr val="38424F"/>
                </a:solidFill>
                <a:latin typeface="Segoe UI"/>
              </a:rPr>
              <a:t>, sino sobre una </a:t>
            </a:r>
            <a:r>
              <a:rPr sz="1650" b="1">
                <a:solidFill>
                  <a:srgbClr val="141A24"/>
                </a:solidFill>
                <a:latin typeface="Segoe UI"/>
              </a:rPr>
              <a:t>conversación</a:t>
            </a:r>
            <a:r>
              <a:rPr sz="1650" b="0">
                <a:solidFill>
                  <a:srgbClr val="38424F"/>
                </a:solidFill>
                <a:latin typeface="Segoe UI"/>
              </a:rPr>
              <a:t> — que el caso de uso no intentó guardar.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5230368"/>
            <a:ext cx="10762488" cy="1005840"/>
          </a:xfrm>
          <a:prstGeom prst="rect">
            <a:avLst/>
          </a:prstGeom>
          <a:solidFill>
            <a:srgbClr val="F7E3EC"/>
          </a:solidFill>
          <a:ln w="13970">
            <a:solidFill>
              <a:srgbClr val="9A2E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550" b="1">
                <a:solidFill>
                  <a:srgbClr val="141A24"/>
                </a:solidFill>
                <a:latin typeface="Segoe UI"/>
              </a:rPr>
              <a:t>Ojo con el nombre. </a:t>
            </a:r>
            <a:r>
              <a:rPr sz="1550" b="0">
                <a:solidFill>
                  <a:srgbClr val="38424F"/>
                </a:solidFill>
                <a:latin typeface="Segoe UI"/>
              </a:rPr>
              <a:t>Si todos los colaboradores están simulados, no se está integrando nada: es una prueba unitaria del caso de uso. Por eso el archivo se llama RegistryWithMockTest y corre en mvn test.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62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140">
                <a:solidFill>
                  <a:srgbClr val="68717F"/>
                </a:solidFill>
                <a:latin typeface="Segoe UI"/>
              </a:rPr>
              <a:t>BLOQUE 3  ·  LA COMPARACIÓN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13232"/>
            <a:ext cx="966520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41A24"/>
                </a:solidFill>
                <a:latin typeface="Segoe UI"/>
              </a:rPr>
              <a:t>Lo que un mock nunca podrá 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536192"/>
            <a:ext cx="1051560" cy="40640"/>
          </a:xfrm>
          <a:prstGeom prst="rect">
            <a:avLst/>
          </a:prstGeom>
          <a:solidFill>
            <a:srgbClr val="1751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13848" y="635508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8717F"/>
                </a:solidFill>
                <a:latin typeface="Consolas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3550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8717F"/>
                </a:solidFill>
                <a:latin typeface="Segoe UI"/>
              </a:rPr>
              <a:t>Pruebas y validación de software  ·  Taller de pruebas de integración y sistema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13232" y="1965960"/>
          <a:ext cx="10762488" cy="349300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77440"/>
                <a:gridCol w="4206240"/>
                <a:gridCol w="4178808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68717F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82296" marR="82296" marT="36576" marB="36576" anchor="ctr">
                    <a:solidFill>
                      <a:srgbClr val="DFE4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68717F"/>
                          </a:solidFill>
                          <a:latin typeface="Segoe UI"/>
                        </a:rPr>
                        <a:t>Con mock (unitaria)</a:t>
                      </a:r>
                    </a:p>
                  </a:txBody>
                  <a:tcPr marL="82296" marR="82296" marT="36576" marB="36576" anchor="ctr">
                    <a:solidFill>
                      <a:srgbClr val="DFE4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68717F"/>
                          </a:solidFill>
                          <a:latin typeface="Segoe UI"/>
                        </a:rPr>
                        <a:t>Con H2 (integración)</a:t>
                      </a:r>
                    </a:p>
                  </a:txBody>
                  <a:tcPr marL="82296" marR="82296" marT="36576" marB="36576" anchor="ctr">
                    <a:solidFill>
                      <a:srgbClr val="DFE4EC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141A24"/>
                          </a:solidFill>
                          <a:latin typeface="Segoe UI"/>
                        </a:rPr>
                        <a:t>Colaborador</a:t>
                      </a:r>
                    </a:p>
                  </a:txBody>
                  <a:tcPr marL="82296" marR="82296" marT="36576" marB="36576" anchor="ctr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38424F"/>
                          </a:solidFill>
                          <a:latin typeface="Segoe UI"/>
                        </a:rPr>
                        <a:t>Doble del puerto</a:t>
                      </a:r>
                    </a:p>
                  </a:txBody>
                  <a:tcPr marL="82296" marR="82296" marT="36576" marB="36576" anchor="ctr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38424F"/>
                          </a:solidFill>
                          <a:latin typeface="Consolas"/>
                        </a:rPr>
                        <a:t>RegistryRepository</a:t>
                      </a:r>
                    </a:p>
                  </a:txBody>
                  <a:tcPr marL="82296" marR="82296" marT="36576" marB="36576" anchor="ctr">
                    <a:solidFill>
                      <a:srgbClr val="FBFCFE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141A24"/>
                          </a:solidFill>
                          <a:latin typeface="Segoe UI"/>
                        </a:rPr>
                        <a:t>Qué verifica</a:t>
                      </a:r>
                    </a:p>
                  </a:txBody>
                  <a:tcPr marL="82296" marR="82296" marT="36576" marB="36576" anchor="ctr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38424F"/>
                          </a:solidFill>
                          <a:latin typeface="Segoe UI"/>
                        </a:rPr>
                        <a:t>Que el caso de uso colabora bien</a:t>
                      </a:r>
                    </a:p>
                  </a:txBody>
                  <a:tcPr marL="82296" marR="82296" marT="36576" marB="36576" anchor="ctr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38424F"/>
                          </a:solidFill>
                          <a:latin typeface="Segoe UI"/>
                        </a:rPr>
                        <a:t>Que los datos quedaron guardados</a:t>
                      </a:r>
                    </a:p>
                  </a:txBody>
                  <a:tcPr marL="82296" marR="82296" marT="36576" marB="36576" anchor="ctr">
                    <a:solidFill>
                      <a:srgbClr val="FBFCFE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141A24"/>
                          </a:solidFill>
                          <a:latin typeface="Segoe UI"/>
                        </a:rPr>
                        <a:t>Detecta</a:t>
                      </a:r>
                    </a:p>
                  </a:txBody>
                  <a:tcPr marL="82296" marR="82296" marT="36576" marB="36576" anchor="ctr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38424F"/>
                          </a:solidFill>
                          <a:latin typeface="Segoe UI"/>
                        </a:rPr>
                        <a:t>Errores de lógica de negocio</a:t>
                      </a:r>
                    </a:p>
                  </a:txBody>
                  <a:tcPr marL="82296" marR="82296" marT="36576" marB="36576" anchor="ctr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38424F"/>
                          </a:solidFill>
                          <a:latin typeface="Segoe UI"/>
                        </a:rPr>
                        <a:t>Errores de SQL, esquema, tipos, transacciones</a:t>
                      </a:r>
                    </a:p>
                  </a:txBody>
                  <a:tcPr marL="82296" marR="82296" marT="36576" marB="36576" anchor="ctr">
                    <a:solidFill>
                      <a:srgbClr val="FBFCFE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141A24"/>
                          </a:solidFill>
                          <a:latin typeface="Segoe UI"/>
                        </a:rPr>
                        <a:t>Velocidad</a:t>
                      </a:r>
                    </a:p>
                  </a:txBody>
                  <a:tcPr marL="82296" marR="82296" marT="36576" marB="36576" anchor="ctr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1B6B4C"/>
                          </a:solidFill>
                          <a:latin typeface="Segoe UI"/>
                        </a:rPr>
                        <a:t>milisegundos</a:t>
                      </a:r>
                    </a:p>
                  </a:txBody>
                  <a:tcPr marL="82296" marR="82296" marT="36576" marB="36576" anchor="ctr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38424F"/>
                          </a:solidFill>
                          <a:latin typeface="Segoe UI"/>
                        </a:rPr>
                        <a:t>décimas de segundo</a:t>
                      </a:r>
                    </a:p>
                  </a:txBody>
                  <a:tcPr marL="82296" marR="82296" marT="36576" marB="36576" anchor="ctr">
                    <a:solidFill>
                      <a:srgbClr val="FBFCFE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141A24"/>
                          </a:solidFill>
                          <a:latin typeface="Segoe UI"/>
                        </a:rPr>
                        <a:t>No puede detectar</a:t>
                      </a:r>
                    </a:p>
                  </a:txBody>
                  <a:tcPr marL="82296" marR="82296" marT="36576" marB="36576" anchor="ctr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A5342D"/>
                          </a:solidFill>
                          <a:latin typeface="Segoe UI"/>
                        </a:rPr>
                        <a:t>que el INSERT está mal escrito</a:t>
                      </a:r>
                    </a:p>
                  </a:txBody>
                  <a:tcPr marL="82296" marR="82296" marT="36576" marB="36576" anchor="ctr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38424F"/>
                          </a:solidFill>
                          <a:latin typeface="Segoe UI"/>
                        </a:rPr>
                        <a:t>poco; pero es más lenta y frágil</a:t>
                      </a:r>
                    </a:p>
                  </a:txBody>
                  <a:tcPr marL="82296" marR="82296" marT="36576" marB="36576" anchor="ctr">
                    <a:solidFill>
                      <a:srgbClr val="FBFCFE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13232" y="5440680"/>
            <a:ext cx="10762488" cy="868680"/>
          </a:xfrm>
          <a:prstGeom prst="rect">
            <a:avLst/>
          </a:prstGeom>
          <a:solidFill>
            <a:srgbClr val="DDE8F6"/>
          </a:solidFill>
          <a:ln w="13970">
            <a:solidFill>
              <a:srgbClr val="1751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550" b="0">
                <a:solidFill>
                  <a:srgbClr val="38424F"/>
                </a:solidFill>
                <a:latin typeface="Segoe UI"/>
              </a:rPr>
              <a:t>Se necesitan las dos. El error común es creer que los mocks reemplazan a la integración: un mock siempre responde lo que usted le dijo, incluso si la base de datos real haría otra cosa.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62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140">
                <a:solidFill>
                  <a:srgbClr val="68717F"/>
                </a:solidFill>
                <a:latin typeface="Segoe UI"/>
              </a:rPr>
              <a:t>BLOQUE 4  ·  TESTCONTAINERS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13232"/>
            <a:ext cx="966520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41A24"/>
                </a:solidFill>
                <a:latin typeface="Segoe UI"/>
              </a:rPr>
              <a:t>H2 es rápida, pero no es su base de datos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536192"/>
            <a:ext cx="1051560" cy="40640"/>
          </a:xfrm>
          <a:prstGeom prst="rect">
            <a:avLst/>
          </a:prstGeom>
          <a:solidFill>
            <a:srgbClr val="1751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13848" y="635508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8717F"/>
                </a:solidFill>
                <a:latin typeface="Consolas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3550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8717F"/>
                </a:solidFill>
                <a:latin typeface="Segoe UI"/>
              </a:rPr>
              <a:t>Pruebas y validación de software  ·  Taller de pruebas de integración y sistema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938528"/>
            <a:ext cx="54864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1200"/>
              </a:spcAft>
            </a:pPr>
            <a:r>
              <a:rPr sz="1750" b="0">
                <a:solidFill>
                  <a:srgbClr val="38424F"/>
                </a:solidFill>
                <a:latin typeface="Segoe UI"/>
              </a:rPr>
              <a:t>H2 difiere de PostgreSQL en dialecto SQL, tipos, plegado de identificadores y comportamiento transaccional.</a:t>
            </a:r>
          </a:p>
          <a:p>
            <a:pPr>
              <a:lnSpc>
                <a:spcPct val="122000"/>
              </a:lnSpc>
              <a:spcAft>
                <a:spcPts val="1200"/>
              </a:spcAft>
            </a:pPr>
            <a:r>
              <a:rPr sz="1750" b="1">
                <a:solidFill>
                  <a:srgbClr val="141A24"/>
                </a:solidFill>
                <a:latin typeface="Segoe UI"/>
              </a:rPr>
              <a:t>Una prueba verde contra H2 puede ocultar un fallo que solo aparece cuando el código llega al motor de producción.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750" b="0">
                <a:solidFill>
                  <a:srgbClr val="38424F"/>
                </a:solidFill>
                <a:latin typeface="Segoe UI"/>
              </a:rPr>
              <a:t>Testcontainers levanta un motor real dentro de un contenedor Docker desde la propia prueba, ejecuta contra él y lo destruye al terminar.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37960" y="1938528"/>
            <a:ext cx="4937760" cy="2377440"/>
          </a:xfrm>
          <a:prstGeom prst="rect">
            <a:avLst/>
          </a:prstGeom>
          <a:solidFill>
            <a:srgbClr val="FBFCFE"/>
          </a:solidFill>
          <a:ln w="12700">
            <a:solidFill>
              <a:srgbClr val="BEC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91440" bIns="91440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50" b="1" i="0">
                <a:solidFill>
                  <a:srgbClr val="68717F"/>
                </a:solidFill>
                <a:latin typeface="Consolas"/>
              </a:rPr>
              <a:t>RegistryRepositoryPostgresIT.java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200" b="0" i="0">
                <a:solidFill>
                  <a:srgbClr val="38424F"/>
                </a:solidFill>
                <a:latin typeface="Consolas"/>
              </a:rPr>
              <a:t>@Testcontainers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200" b="0" i="0">
                <a:solidFill>
                  <a:srgbClr val="38424F"/>
                </a:solidFill>
                <a:latin typeface="Consolas"/>
              </a:rPr>
              <a:t>class RegistryRepositoryPostgresIT {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200" b="0" i="0">
                <a:solidFill>
                  <a:srgbClr val="38424F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200" b="0" i="0">
                <a:solidFill>
                  <a:srgbClr val="38424F"/>
                </a:solidFill>
                <a:latin typeface="Consolas"/>
              </a:rPr>
              <a:t>  @Container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200" b="1" i="0">
                <a:solidFill>
                  <a:srgbClr val="17518F"/>
                </a:solidFill>
                <a:latin typeface="Consolas"/>
              </a:rPr>
              <a:t>  static PostgreSQLContainer&lt;?&gt; db =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200" b="1" i="0">
                <a:solidFill>
                  <a:srgbClr val="17518F"/>
                </a:solidFill>
                <a:latin typeface="Consolas"/>
              </a:rPr>
              <a:t>    new PostgreSQLContainer&lt;&gt;("postgres:16-alpine");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200" b="0" i="0">
                <a:solidFill>
                  <a:srgbClr val="38424F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200" b="0" i="0">
                <a:solidFill>
                  <a:srgbClr val="38424F"/>
                </a:solidFill>
                <a:latin typeface="Consolas"/>
              </a:rPr>
              <a:t>  // la prueba usa db.getJdbcUrl()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200" b="0" i="0">
                <a:solidFill>
                  <a:srgbClr val="38424F"/>
                </a:solidFill>
                <a:latin typeface="Consolas"/>
              </a:rPr>
              <a:t>}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4572000"/>
          <a:ext cx="10762488" cy="197510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77440"/>
                <a:gridCol w="4206240"/>
                <a:gridCol w="4178808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68717F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82296" marR="82296" marT="36576" marB="36576" anchor="ctr">
                    <a:solidFill>
                      <a:srgbClr val="DFE4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68717F"/>
                          </a:solidFill>
                          <a:latin typeface="Segoe UI"/>
                        </a:rPr>
                        <a:t>H2</a:t>
                      </a:r>
                    </a:p>
                  </a:txBody>
                  <a:tcPr marL="82296" marR="82296" marT="36576" marB="36576" anchor="ctr">
                    <a:solidFill>
                      <a:srgbClr val="DFE4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68717F"/>
                          </a:solidFill>
                          <a:latin typeface="Segoe UI"/>
                        </a:rPr>
                        <a:t>Testcontainers</a:t>
                      </a:r>
                    </a:p>
                  </a:txBody>
                  <a:tcPr marL="82296" marR="82296" marT="36576" marB="36576" anchor="ctr">
                    <a:solidFill>
                      <a:srgbClr val="DFE4E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41A24"/>
                          </a:solidFill>
                          <a:latin typeface="Segoe UI"/>
                        </a:rPr>
                        <a:t>Velocidad</a:t>
                      </a:r>
                    </a:p>
                  </a:txBody>
                  <a:tcPr marL="82296" marR="82296" marT="36576" marB="36576" anchor="ctr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F"/>
                          </a:solidFill>
                          <a:latin typeface="Segoe UI"/>
                        </a:rPr>
                        <a:t>milisegundos</a:t>
                      </a:r>
                    </a:p>
                  </a:txBody>
                  <a:tcPr marL="82296" marR="82296" marT="36576" marB="36576" anchor="ctr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F"/>
                          </a:solidFill>
                          <a:latin typeface="Segoe UI"/>
                        </a:rPr>
                        <a:t>segundos</a:t>
                      </a:r>
                    </a:p>
                  </a:txBody>
                  <a:tcPr marL="82296" marR="82296" marT="36576" marB="36576" anchor="ctr">
                    <a:solidFill>
                      <a:srgbClr val="FBFCF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41A24"/>
                          </a:solidFill>
                          <a:latin typeface="Segoe UI"/>
                        </a:rPr>
                        <a:t>Fidelidad</a:t>
                      </a:r>
                    </a:p>
                  </a:txBody>
                  <a:tcPr marL="82296" marR="82296" marT="36576" marB="36576" anchor="ctr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F"/>
                          </a:solidFill>
                          <a:latin typeface="Segoe UI"/>
                        </a:rPr>
                        <a:t>aproximada</a:t>
                      </a:r>
                    </a:p>
                  </a:txBody>
                  <a:tcPr marL="82296" marR="82296" marT="36576" marB="36576" anchor="ctr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6B4C"/>
                          </a:solidFill>
                          <a:latin typeface="Segoe UI"/>
                        </a:rPr>
                        <a:t>total</a:t>
                      </a:r>
                    </a:p>
                  </a:txBody>
                  <a:tcPr marL="82296" marR="82296" marT="36576" marB="36576" anchor="ctr">
                    <a:solidFill>
                      <a:srgbClr val="FBFCF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41A24"/>
                          </a:solidFill>
                          <a:latin typeface="Segoe UI"/>
                        </a:rPr>
                        <a:t>Prerrequisitos</a:t>
                      </a:r>
                    </a:p>
                  </a:txBody>
                  <a:tcPr marL="82296" marR="82296" marT="36576" marB="36576" anchor="ctr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F"/>
                          </a:solidFill>
                          <a:latin typeface="Segoe UI"/>
                        </a:rPr>
                        <a:t>ninguno</a:t>
                      </a:r>
                    </a:p>
                  </a:txBody>
                  <a:tcPr marL="82296" marR="82296" marT="36576" marB="36576" anchor="ctr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F"/>
                          </a:solidFill>
                          <a:latin typeface="Segoe UI"/>
                        </a:rPr>
                        <a:t>Docker corriendo</a:t>
                      </a:r>
                    </a:p>
                  </a:txBody>
                  <a:tcPr marL="82296" marR="82296" marT="36576" marB="36576" anchor="ctr">
                    <a:solidFill>
                      <a:srgbClr val="FBFCF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41A24"/>
                          </a:solidFill>
                          <a:latin typeface="Segoe UI"/>
                        </a:rPr>
                        <a:t>Cuándo</a:t>
                      </a:r>
                    </a:p>
                  </a:txBody>
                  <a:tcPr marL="82296" marR="82296" marT="36576" marB="36576" anchor="ctr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F"/>
                          </a:solidFill>
                          <a:latin typeface="Segoe UI"/>
                        </a:rPr>
                        <a:t>ciclo rápido mientras desarrolla</a:t>
                      </a:r>
                    </a:p>
                  </a:txBody>
                  <a:tcPr marL="82296" marR="82296" marT="36576" marB="36576" anchor="ctr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F"/>
                          </a:solidFill>
                          <a:latin typeface="Segoe UI"/>
                        </a:rPr>
                        <a:t>antes de integrar, y en CI</a:t>
                      </a:r>
                    </a:p>
                  </a:txBody>
                  <a:tcPr marL="82296" marR="82296" marT="36576" marB="36576" anchor="ctr">
                    <a:solidFill>
                      <a:srgbClr val="FBFC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62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140">
                <a:solidFill>
                  <a:srgbClr val="C8D4E4"/>
                </a:solidFill>
                <a:latin typeface="Segoe UI"/>
              </a:rPr>
              <a:t>BLOQUE 4  ·  UNA DIVERGENCIA REAL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13232"/>
            <a:ext cx="966520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FFFFFF"/>
                </a:solidFill>
                <a:latin typeface="Segoe UI"/>
              </a:rPr>
              <a:t>El mismo SQL, dos respuestas distintas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536192"/>
            <a:ext cx="1051560" cy="40640"/>
          </a:xfrm>
          <a:prstGeom prst="rect">
            <a:avLst/>
          </a:prstGeom>
          <a:solidFill>
            <a:srgbClr val="C8D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13848" y="635508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8D4E4"/>
                </a:solidFill>
                <a:latin typeface="Consolas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3550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8D4E4"/>
                </a:solidFill>
                <a:latin typeface="Segoe UI"/>
              </a:rPr>
              <a:t>Pruebas y validación de software  ·  Taller de pruebas de integración y sistema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965960"/>
            <a:ext cx="6583680" cy="1371600"/>
          </a:xfrm>
          <a:prstGeom prst="rect">
            <a:avLst/>
          </a:prstGeom>
          <a:solidFill>
            <a:srgbClr val="1E2733"/>
          </a:solidFill>
          <a:ln w="12700">
            <a:solidFill>
              <a:srgbClr val="3B47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28016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E2776E"/>
                </a:solidFill>
                <a:latin typeface="Consolas"/>
              </a:rPr>
              <a:t>H2       ::  SELECT "name" FROM registry  -&gt;  FALLA: no existe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FAD82"/>
                </a:solidFill>
                <a:latin typeface="Consolas"/>
              </a:rPr>
              <a:t>POSTGRES ::  SELECT "name" FROM registry  -&gt;  OK, valor = Ana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611880"/>
            <a:ext cx="658368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1200"/>
              </a:spcAft>
            </a:pPr>
            <a:r>
              <a:rPr sz="1700" b="0">
                <a:solidFill>
                  <a:srgbClr val="C8D4E4"/>
                </a:solidFill>
                <a:latin typeface="Segoe UI"/>
              </a:rPr>
              <a:t>El estándar SQL dice que los identificadores sin comillas se pliegan a una caja, pero no dice a cuál. Cada motor eligió distinto.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700" b="0">
                <a:solidFill>
                  <a:srgbClr val="C8D4E4"/>
                </a:solidFill>
                <a:latin typeface="Segoe UI"/>
              </a:rPr>
              <a:t>H2 los pliega a MAYÚSCULAS, así que la columna se llama </a:t>
            </a:r>
            <a:r>
              <a:rPr sz="1700" b="0">
                <a:solidFill>
                  <a:srgbClr val="FFFFFF"/>
                </a:solidFill>
                <a:latin typeface="Consolas"/>
              </a:rPr>
              <a:t>NAME</a:t>
            </a:r>
            <a:r>
              <a:rPr sz="1700" b="0">
                <a:solidFill>
                  <a:srgbClr val="C8D4E4"/>
                </a:solidFill>
                <a:latin typeface="Segoe UI"/>
              </a:rPr>
              <a:t>. PostgreSQL los pliega a minúsculas: </a:t>
            </a:r>
            <a:r>
              <a:rPr sz="1700" b="0">
                <a:solidFill>
                  <a:srgbClr val="FFFFFF"/>
                </a:solidFill>
                <a:latin typeface="Consolas"/>
              </a:rPr>
              <a:t>name</a:t>
            </a:r>
            <a:r>
              <a:rPr sz="1700" b="0">
                <a:solidFill>
                  <a:srgbClr val="C8D4E4"/>
                </a:solidFill>
                <a:latin typeface="Segoe UI"/>
              </a:rPr>
              <a:t>. Un identificador entrecomillado, en cambio, se toma literal.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1965960"/>
            <a:ext cx="3657600" cy="621792"/>
          </a:xfrm>
          <a:prstGeom prst="roundRect">
            <a:avLst>
              <a:gd name="adj" fmla="val 6000"/>
            </a:avLst>
          </a:prstGeom>
          <a:solidFill>
            <a:srgbClr val="1E2733"/>
          </a:solidFill>
          <a:ln w="20320">
            <a:solidFill>
              <a:srgbClr val="E277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H2  -&gt;  la columna se llama  NAME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2715768"/>
            <a:ext cx="3657600" cy="621792"/>
          </a:xfrm>
          <a:prstGeom prst="roundRect">
            <a:avLst>
              <a:gd name="adj" fmla="val 6000"/>
            </a:avLst>
          </a:prstGeom>
          <a:solidFill>
            <a:srgbClr val="1E2733"/>
          </a:solidFill>
          <a:ln w="20320">
            <a:solidFill>
              <a:srgbClr val="4FAD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PostgreSQL  -&gt;  se llama  name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18120" y="3611880"/>
            <a:ext cx="3657600" cy="2103120"/>
          </a:xfrm>
          <a:prstGeom prst="rect">
            <a:avLst/>
          </a:prstGeom>
          <a:solidFill>
            <a:srgbClr val="1E2733"/>
          </a:solidFill>
          <a:ln w="13970">
            <a:solidFill>
              <a:srgbClr val="3B47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El mismo SQL no es portable. </a:t>
            </a:r>
            <a:r>
              <a:rPr sz="1600" b="0">
                <a:solidFill>
                  <a:srgbClr val="C8D4E4"/>
                </a:solidFill>
                <a:latin typeface="Segoe UI"/>
              </a:rPr>
              <a:t>Es exactamente el tipo de defecto que una prueba con H2 nunca va a encontrar, porque para H2 el código está bien.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62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140">
                <a:solidFill>
                  <a:srgbClr val="68717F"/>
                </a:solidFill>
                <a:latin typeface="Segoe UI"/>
              </a:rPr>
              <a:t>BLOQUE 5  ·  PRUEBA DE SISTEMA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13232"/>
            <a:ext cx="966520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41A24"/>
                </a:solidFill>
                <a:latin typeface="Segoe UI"/>
              </a:rPr>
              <a:t>Caja negra: entrar por donde entra el cliente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536192"/>
            <a:ext cx="1051560" cy="40640"/>
          </a:xfrm>
          <a:prstGeom prst="rect">
            <a:avLst/>
          </a:prstGeom>
          <a:solidFill>
            <a:srgbClr val="1751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13848" y="635508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8717F"/>
                </a:solidFill>
                <a:latin typeface="Consolas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3550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8717F"/>
                </a:solidFill>
                <a:latin typeface="Segoe UI"/>
              </a:rPr>
              <a:t>Pruebas y validación de software  ·  Taller de pruebas de integración y sistema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920240"/>
            <a:ext cx="6400800" cy="3017520"/>
          </a:xfrm>
          <a:prstGeom prst="rect">
            <a:avLst/>
          </a:prstGeom>
          <a:solidFill>
            <a:srgbClr val="FBFCFE"/>
          </a:solidFill>
          <a:ln w="12700">
            <a:solidFill>
              <a:srgbClr val="BEC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91440" bIns="91440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50" b="1" i="0">
                <a:solidFill>
                  <a:srgbClr val="68717F"/>
                </a:solidFill>
                <a:latin typeface="Consolas"/>
              </a:rPr>
              <a:t>RegistryControllerIT.java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200" b="0" i="0">
                <a:solidFill>
                  <a:srgbClr val="38424F"/>
                </a:solidFill>
                <a:latin typeface="Consolas"/>
              </a:rPr>
              <a:t>@RunWith(SpringRunner.class)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200" b="1" i="0">
                <a:solidFill>
                  <a:srgbClr val="17518F"/>
                </a:solidFill>
                <a:latin typeface="Consolas"/>
              </a:rPr>
              <a:t>@SpringBootTest(webEnvironment = RANDOM_PORT)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200" b="0" i="0">
                <a:solidFill>
                  <a:srgbClr val="38424F"/>
                </a:solidFill>
                <a:latin typeface="Consolas"/>
              </a:rPr>
              <a:t>public class RegistryControllerIT {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200" b="0" i="0">
                <a:solidFill>
                  <a:srgbClr val="38424F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200" b="0" i="0">
                <a:solidFill>
                  <a:srgbClr val="38424F"/>
                </a:solidFill>
                <a:latin typeface="Consolas"/>
              </a:rPr>
              <a:t>  @Autowired private TestRestTemplate rest;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200" b="0" i="0">
                <a:solidFill>
                  <a:srgbClr val="38424F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200" b="0" i="0">
                <a:solidFill>
                  <a:srgbClr val="38424F"/>
                </a:solidFill>
                <a:latin typeface="Consolas"/>
              </a:rPr>
              <a:t>  @Test public void registraUnaPersonaValida() {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200" b="0" i="0">
                <a:solidFill>
                  <a:srgbClr val="38424F"/>
                </a:solidFill>
                <a:latin typeface="Consolas"/>
              </a:rPr>
              <a:t>    ResponseEntity&lt;String&gt; resp = rest.postForEntity(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200" b="0" i="0">
                <a:solidFill>
                  <a:srgbClr val="38424F"/>
                </a:solidFill>
                <a:latin typeface="Consolas"/>
              </a:rPr>
              <a:t>        "/register", new HttpEntity&lt;&gt;(json, headers), String.class);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200" b="0" i="0">
                <a:solidFill>
                  <a:srgbClr val="38424F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200" b="1" i="0">
                <a:solidFill>
                  <a:srgbClr val="17518F"/>
                </a:solidFill>
                <a:latin typeface="Consolas"/>
              </a:rPr>
              <a:t>    assertEquals(HttpStatus.OK, resp.getStatusCode());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200" b="1" i="0">
                <a:solidFill>
                  <a:srgbClr val="17518F"/>
                </a:solidFill>
                <a:latin typeface="Consolas"/>
              </a:rPr>
              <a:t>    assertEquals("VALID", resp.getBody());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200" b="0" i="0">
                <a:solidFill>
                  <a:srgbClr val="38424F"/>
                </a:solidFill>
                <a:latin typeface="Consolas"/>
              </a:rPr>
              <a:t>  }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200" b="0" i="0">
                <a:solidFill>
                  <a:srgbClr val="38424F"/>
                </a:solidFill>
                <a:latin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1920240"/>
            <a:ext cx="3977639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1200"/>
              </a:spcAft>
            </a:pPr>
            <a:r>
              <a:rPr sz="1650" b="0">
                <a:solidFill>
                  <a:srgbClr val="38424F"/>
                </a:solidFill>
                <a:latin typeface="Segoe UI"/>
              </a:rPr>
              <a:t>La prueba no nombra a </a:t>
            </a:r>
            <a:r>
              <a:rPr sz="1650" b="0">
                <a:solidFill>
                  <a:srgbClr val="38424F"/>
                </a:solidFill>
                <a:latin typeface="Consolas"/>
              </a:rPr>
              <a:t>Registry</a:t>
            </a:r>
            <a:r>
              <a:rPr sz="1650" b="0">
                <a:solidFill>
                  <a:srgbClr val="38424F"/>
                </a:solidFill>
                <a:latin typeface="Segoe UI"/>
              </a:rPr>
              <a:t> ni a la base de datos. Solo conoce una URL, un JSON y una respuesta.</a:t>
            </a:r>
          </a:p>
          <a:p>
            <a:pPr>
              <a:lnSpc>
                <a:spcPct val="122000"/>
              </a:lnSpc>
              <a:spcAft>
                <a:spcPts val="1200"/>
              </a:spcAft>
            </a:pPr>
            <a:r>
              <a:rPr sz="1650" b="0">
                <a:solidFill>
                  <a:srgbClr val="38424F"/>
                </a:solidFill>
                <a:latin typeface="Segoe UI"/>
              </a:rPr>
              <a:t>Los objetos ya no los arma la prueba: los arma Spring con </a:t>
            </a:r>
            <a:r>
              <a:rPr sz="1650" b="0">
                <a:solidFill>
                  <a:srgbClr val="38424F"/>
                </a:solidFill>
                <a:latin typeface="Consolas"/>
              </a:rPr>
              <a:t>RegistryConfig</a:t>
            </a:r>
            <a:r>
              <a:rPr sz="1650" b="0">
                <a:solidFill>
                  <a:srgbClr val="38424F"/>
                </a:solidFill>
                <a:latin typeface="Segoe UI"/>
              </a:rPr>
              <a:t>. Es la única de las cinco que ejercita el controlador y el mapeo del JSON.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650" b="1">
                <a:solidFill>
                  <a:srgbClr val="141A24"/>
                </a:solidFill>
                <a:latin typeface="Segoe UI"/>
              </a:rPr>
              <a:t>Todo lo que puede afirmar cabe en dos líneas: el código de estado y el cuerpo.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5230368"/>
            <a:ext cx="10762488" cy="1005840"/>
          </a:xfrm>
          <a:prstGeom prst="rect">
            <a:avLst/>
          </a:prstGeom>
          <a:solidFill>
            <a:srgbClr val="F6EBD5"/>
          </a:solidFill>
          <a:ln w="13970">
            <a:solidFill>
              <a:srgbClr val="8B5E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550" b="1">
                <a:solidFill>
                  <a:srgbClr val="141A24"/>
                </a:solidFill>
                <a:latin typeface="Segoe UI"/>
              </a:rPr>
              <a:t>El precio de la caja negra. </a:t>
            </a:r>
            <a:r>
              <a:rPr sz="1550" b="0">
                <a:solidFill>
                  <a:srgbClr val="38424F"/>
                </a:solidFill>
                <a:latin typeface="Segoe UI"/>
              </a:rPr>
              <a:t>Cuando falla, dice «esperaba VALID, llegó 500», sin señalar la línea culpable. Es la prueba más completa y la más cara de diagnosticar: por eso va arriba de la pirámide, no en la base.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62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140">
                <a:solidFill>
                  <a:srgbClr val="68717F"/>
                </a:solidFill>
                <a:latin typeface="Segoe UI"/>
              </a:rPr>
              <a:t>BLOQUE 4  ·  CONTRACT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13232"/>
            <a:ext cx="966520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41A24"/>
                </a:solidFill>
                <a:latin typeface="Segoe UI"/>
              </a:rPr>
              <a:t>El hueco que ninguna de las anteriores cubre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536192"/>
            <a:ext cx="1051560" cy="40640"/>
          </a:xfrm>
          <a:prstGeom prst="rect">
            <a:avLst/>
          </a:prstGeom>
          <a:solidFill>
            <a:srgbClr val="1751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13848" y="635508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8717F"/>
                </a:solidFill>
                <a:latin typeface="Consolas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3550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8717F"/>
                </a:solidFill>
                <a:latin typeface="Segoe UI"/>
              </a:rPr>
              <a:t>Pruebas y validación de software  ·  Taller de pruebas de integración y sistema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874519"/>
            <a:ext cx="1076248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750" b="0">
                <a:solidFill>
                  <a:srgbClr val="38424F"/>
                </a:solidFill>
                <a:latin typeface="Segoe UI"/>
              </a:rPr>
              <a:t>La Registraduría deja de responder texto plano y empieza a responder </a:t>
            </a:r>
            <a:r>
              <a:rPr sz="1750" b="0">
                <a:solidFill>
                  <a:srgbClr val="141A24"/>
                </a:solidFill>
                <a:latin typeface="Consolas"/>
              </a:rPr>
              <a:t>{"resultado":"VALID"}</a:t>
            </a:r>
            <a:r>
              <a:rPr sz="1750" b="0">
                <a:solidFill>
                  <a:srgbClr val="38424F"/>
                </a:solidFill>
                <a:latin typeface="Segoe UI"/>
              </a:rPr>
              <a:t>.  ¿Qué prueba se entera?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3232" y="2487168"/>
          <a:ext cx="10762488" cy="279806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17520"/>
                <a:gridCol w="2103120"/>
                <a:gridCol w="5641848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68717F"/>
                          </a:solidFill>
                          <a:latin typeface="Segoe UI"/>
                        </a:rPr>
                        <a:t>Prueba</a:t>
                      </a:r>
                    </a:p>
                  </a:txBody>
                  <a:tcPr marL="82296" marR="82296" marT="36576" marB="36576" anchor="ctr">
                    <a:solidFill>
                      <a:srgbClr val="DFE4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68717F"/>
                          </a:solidFill>
                          <a:latin typeface="Segoe UI"/>
                        </a:rPr>
                        <a:t>¿Detecta el cambio?</a:t>
                      </a:r>
                    </a:p>
                  </a:txBody>
                  <a:tcPr marL="82296" marR="82296" marT="36576" marB="36576" anchor="ctr">
                    <a:solidFill>
                      <a:srgbClr val="DFE4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68717F"/>
                          </a:solidFill>
                          <a:latin typeface="Segoe UI"/>
                        </a:rPr>
                        <a:t>Por qué</a:t>
                      </a:r>
                    </a:p>
                  </a:txBody>
                  <a:tcPr marL="82296" marR="82296" marT="36576" marB="36576" anchor="ctr">
                    <a:solidFill>
                      <a:srgbClr val="DFE4EC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38424F"/>
                          </a:solidFill>
                          <a:latin typeface="Consolas"/>
                        </a:rPr>
                        <a:t>RegistryWithMockTest</a:t>
                      </a:r>
                    </a:p>
                  </a:txBody>
                  <a:tcPr marL="82296" marR="82296" marT="36576" marB="36576" anchor="ctr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A5342D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82296" marR="82296" marT="36576" marB="36576" anchor="ctr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38424F"/>
                          </a:solidFill>
                          <a:latin typeface="Segoe UI"/>
                        </a:rPr>
                        <a:t>El mock responde lo que usted le dijo, no lo que responde el servicio real</a:t>
                      </a:r>
                    </a:p>
                  </a:txBody>
                  <a:tcPr marL="82296" marR="82296" marT="36576" marB="36576" anchor="ctr">
                    <a:solidFill>
                      <a:srgbClr val="FBFCFE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38424F"/>
                          </a:solidFill>
                          <a:latin typeface="Consolas"/>
                        </a:rPr>
                        <a:t>RegistryIT  (H2)</a:t>
                      </a:r>
                    </a:p>
                  </a:txBody>
                  <a:tcPr marL="82296" marR="82296" marT="36576" marB="36576" anchor="ctr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A5342D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82296" marR="82296" marT="36576" marB="36576" anchor="ctr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38424F"/>
                          </a:solidFill>
                          <a:latin typeface="Segoe UI"/>
                        </a:rPr>
                        <a:t>No pasa por HTTP</a:t>
                      </a:r>
                    </a:p>
                  </a:txBody>
                  <a:tcPr marL="82296" marR="82296" marT="36576" marB="36576" anchor="ctr">
                    <a:solidFill>
                      <a:srgbClr val="FBFCFE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38424F"/>
                          </a:solidFill>
                          <a:latin typeface="Consolas"/>
                        </a:rPr>
                        <a:t>RegistryControllerIT</a:t>
                      </a:r>
                    </a:p>
                  </a:txBody>
                  <a:tcPr marL="82296" marR="82296" marT="36576" marB="36576" anchor="ctr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A5342D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82296" marR="82296" marT="36576" marB="36576" anchor="ctr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38424F"/>
                          </a:solidFill>
                          <a:latin typeface="Segoe UI"/>
                        </a:rPr>
                        <a:t>Verifica al proveedor contra sí mismo: si actualiza la prueba junto con el código, sigue verde</a:t>
                      </a:r>
                    </a:p>
                  </a:txBody>
                  <a:tcPr marL="82296" marR="82296" marT="36576" marB="36576" anchor="ctr">
                    <a:solidFill>
                      <a:srgbClr val="FBFCFE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38424F"/>
                          </a:solidFill>
                          <a:latin typeface="Consolas"/>
                        </a:rPr>
                        <a:t>Pruebas del consumidor</a:t>
                      </a:r>
                    </a:p>
                  </a:txBody>
                  <a:tcPr marL="82296" marR="82296" marT="36576" marB="36576" anchor="ctr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8B5E12"/>
                          </a:solidFill>
                          <a:latin typeface="Segoe UI"/>
                        </a:rPr>
                        <a:t>Sí, pero tarde</a:t>
                      </a:r>
                    </a:p>
                  </a:txBody>
                  <a:tcPr marL="82296" marR="82296" marT="36576" marB="36576" anchor="ctr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38424F"/>
                          </a:solidFill>
                          <a:latin typeface="Segoe UI"/>
                        </a:rPr>
                        <a:t>En su propio pipeline, o peor: en producción</a:t>
                      </a:r>
                    </a:p>
                  </a:txBody>
                  <a:tcPr marL="82296" marR="82296" marT="36576" marB="36576" anchor="ctr">
                    <a:solidFill>
                      <a:srgbClr val="FBFCFE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13232" y="5349240"/>
            <a:ext cx="10762488" cy="914400"/>
          </a:xfrm>
          <a:prstGeom prst="rect">
            <a:avLst/>
          </a:prstGeom>
          <a:solidFill>
            <a:srgbClr val="F7E3EC"/>
          </a:solidFill>
          <a:ln w="13970">
            <a:solidFill>
              <a:srgbClr val="9A2E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550" b="1">
                <a:solidFill>
                  <a:srgbClr val="141A24"/>
                </a:solidFill>
                <a:latin typeface="Segoe UI"/>
              </a:rPr>
              <a:t>El problema de los sistemas distribuidos: </a:t>
            </a:r>
            <a:r>
              <a:rPr sz="1550" b="0">
                <a:solidFill>
                  <a:srgbClr val="38424F"/>
                </a:solidFill>
                <a:latin typeface="Segoe UI"/>
              </a:rPr>
              <a:t>Cada equipo prueba su parte y todas pasan, pero el sistema completo está roto. Levantar todos los servicios juntos es lento, frágil y no escala.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62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140">
                <a:solidFill>
                  <a:srgbClr val="68717F"/>
                </a:solidFill>
                <a:latin typeface="Segoe UI"/>
              </a:rPr>
              <a:t>BLOQUE 4  ·  CÓMO FUNCIONA 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13232"/>
            <a:ext cx="966520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41A24"/>
                </a:solidFill>
                <a:latin typeface="Segoe UI"/>
              </a:rPr>
              <a:t>El consumidor escribe el contrato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536192"/>
            <a:ext cx="1051560" cy="40640"/>
          </a:xfrm>
          <a:prstGeom prst="rect">
            <a:avLst/>
          </a:prstGeom>
          <a:solidFill>
            <a:srgbClr val="1751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13848" y="635508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8717F"/>
                </a:solidFill>
                <a:latin typeface="Consolas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3550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8717F"/>
                </a:solidFill>
                <a:latin typeface="Segoe UI"/>
              </a:rPr>
              <a:t>Pruebas y validación de software  ·  Taller de pruebas de integración y sistema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148840"/>
            <a:ext cx="3017520" cy="1051560"/>
          </a:xfrm>
          <a:prstGeom prst="roundRect">
            <a:avLst>
              <a:gd name="adj" fmla="val 6000"/>
            </a:avLst>
          </a:prstGeom>
          <a:solidFill>
            <a:srgbClr val="F7E3EC"/>
          </a:solidFill>
          <a:ln w="20320">
            <a:solidFill>
              <a:srgbClr val="9A2E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1A24"/>
                </a:solidFill>
                <a:latin typeface="Segoe UI"/>
              </a:rPr>
              <a:t>certificados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8717F"/>
                </a:solidFill>
                <a:latin typeface="Consolas"/>
              </a:rPr>
              <a:t>el consumidor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90872" y="2148840"/>
            <a:ext cx="2834640" cy="1051560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20320">
            <a:solidFill>
              <a:srgbClr val="BEC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1A24"/>
                </a:solidFill>
                <a:latin typeface="Segoe UI"/>
              </a:rPr>
              <a:t>el pacto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8717F"/>
                </a:solidFill>
                <a:latin typeface="Consolas"/>
              </a:rPr>
              <a:t>certificados-registraduria.json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85632" y="2148840"/>
            <a:ext cx="2990088" cy="1051560"/>
          </a:xfrm>
          <a:prstGeom prst="roundRect">
            <a:avLst>
              <a:gd name="adj" fmla="val 6000"/>
            </a:avLst>
          </a:prstGeom>
          <a:solidFill>
            <a:srgbClr val="DDE8F6"/>
          </a:solidFill>
          <a:ln w="20320">
            <a:solidFill>
              <a:srgbClr val="1751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1A24"/>
                </a:solidFill>
                <a:latin typeface="Segoe UI"/>
              </a:rPr>
              <a:t>registraduria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8717F"/>
                </a:solidFill>
                <a:latin typeface="Consolas"/>
              </a:rPr>
              <a:t>el proveedor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730752" y="2679192"/>
            <a:ext cx="960120" cy="0"/>
          </a:xfrm>
          <a:prstGeom prst="line">
            <a:avLst/>
          </a:prstGeom>
          <a:ln w="22225">
            <a:solidFill>
              <a:srgbClr val="9A2E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525512" y="2679192"/>
            <a:ext cx="960120" cy="0"/>
          </a:xfrm>
          <a:prstGeom prst="line">
            <a:avLst/>
          </a:prstGeom>
          <a:ln w="22225">
            <a:solidFill>
              <a:srgbClr val="1751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639312" y="324612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2E63"/>
                </a:solidFill>
                <a:latin typeface="Consolas"/>
              </a:rPr>
              <a:t>genera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34071" y="324612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7518F"/>
                </a:solidFill>
                <a:latin typeface="Consolas"/>
              </a:rPr>
              <a:t>verifica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3977639"/>
            <a:ext cx="507492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1" i="0">
                <a:solidFill>
                  <a:srgbClr val="9A2E63"/>
                </a:solidFill>
                <a:latin typeface="Segoe UI"/>
              </a:rPr>
              <a:t>1 · LADO CONSUMIDOR</a:t>
            </a:r>
          </a:p>
          <a:p>
            <a:pPr>
              <a:lnSpc>
                <a:spcPct val="122000"/>
              </a:lnSpc>
              <a:spcAft>
                <a:spcPts val="1200"/>
              </a:spcAft>
            </a:pPr>
            <a:r>
              <a:rPr sz="1600" b="0">
                <a:solidFill>
                  <a:srgbClr val="38424F"/>
                </a:solidFill>
                <a:latin typeface="Segoe UI"/>
              </a:rPr>
              <a:t>Declara qué espera del proveedor y corre sus pruebas contra un servidor simulado que se comporta así. Como subproducto, genera el archivo de pacto.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600" b="0">
                <a:solidFill>
                  <a:srgbClr val="38424F"/>
                </a:solidFill>
                <a:latin typeface="Segoe UI"/>
              </a:rPr>
              <a:t>Aquí: </a:t>
            </a:r>
            <a:r>
              <a:rPr sz="1600" b="0">
                <a:solidFill>
                  <a:srgbClr val="38424F"/>
                </a:solidFill>
                <a:latin typeface="Consolas"/>
              </a:rPr>
              <a:t>CertificadoServicePactTest</a:t>
            </a:r>
            <a:r>
              <a:rPr sz="1600" b="0">
                <a:solidFill>
                  <a:srgbClr val="38424F"/>
                </a:solidFill>
                <a:latin typeface="Segoe UI"/>
              </a:rPr>
              <a:t> emite el certificado solo si la respuesta es </a:t>
            </a:r>
            <a:r>
              <a:rPr sz="1600" b="0">
                <a:solidFill>
                  <a:srgbClr val="141A24"/>
                </a:solidFill>
                <a:latin typeface="Consolas"/>
              </a:rPr>
              <a:t>VALID</a:t>
            </a:r>
            <a:r>
              <a:rPr sz="1600" b="0">
                <a:solidFill>
                  <a:srgbClr val="38424F"/>
                </a:solidFill>
                <a:latin typeface="Segoe UI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977639"/>
            <a:ext cx="507492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1" i="0">
                <a:solidFill>
                  <a:srgbClr val="17518F"/>
                </a:solidFill>
                <a:latin typeface="Segoe UI"/>
              </a:rPr>
              <a:t>2 · LADO PROVEEDOR</a:t>
            </a:r>
          </a:p>
          <a:p>
            <a:pPr>
              <a:lnSpc>
                <a:spcPct val="122000"/>
              </a:lnSpc>
              <a:spcAft>
                <a:spcPts val="1200"/>
              </a:spcAft>
            </a:pPr>
            <a:r>
              <a:rPr sz="1600" b="0">
                <a:solidFill>
                  <a:srgbClr val="38424F"/>
                </a:solidFill>
                <a:latin typeface="Segoe UI"/>
              </a:rPr>
              <a:t>Toma ese pacto y verifica, en su propio pipeline, que sigue cumpliéndolo. Reproduce todas las interacciones que el consumidor declaró.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600" b="0">
                <a:solidFill>
                  <a:srgbClr val="38424F"/>
                </a:solidFill>
                <a:latin typeface="Segoe UI"/>
              </a:rPr>
              <a:t>Aquí: </a:t>
            </a:r>
            <a:r>
              <a:rPr sz="1600" b="0">
                <a:solidFill>
                  <a:srgbClr val="38424F"/>
                </a:solidFill>
                <a:latin typeface="Consolas"/>
              </a:rPr>
              <a:t>RegistraduriaProviderPactIT</a:t>
            </a:r>
            <a:r>
              <a:rPr sz="1600" b="0">
                <a:solidFill>
                  <a:srgbClr val="38424F"/>
                </a:solidFill>
                <a:latin typeface="Segoe UI"/>
              </a:rPr>
              <a:t> levanta la aplicación y responde.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" y="5815584"/>
            <a:ext cx="10762488" cy="493776"/>
          </a:xfrm>
          <a:prstGeom prst="rect">
            <a:avLst/>
          </a:prstGeom>
          <a:solidFill>
            <a:srgbClr val="DDE8F6"/>
          </a:solidFill>
          <a:ln w="13970">
            <a:solidFill>
              <a:srgbClr val="1751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500" b="0">
                <a:solidFill>
                  <a:srgbClr val="38424F"/>
                </a:solidFill>
                <a:latin typeface="Segoe UI"/>
              </a:rPr>
              <a:t>Los dos servicios nunca se levantan al mismo tiempo, y aun así el acuerdo queda verificado.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62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140">
                <a:solidFill>
                  <a:srgbClr val="68717F"/>
                </a:solidFill>
                <a:latin typeface="Segoe UI"/>
              </a:rPr>
              <a:t>BLOQUE 4  ·  EL @STATE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13232"/>
            <a:ext cx="966520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41A24"/>
                </a:solidFill>
                <a:latin typeface="Segoe UI"/>
              </a:rPr>
              <a:t>Quién nombra el estado y quién sabe montarlo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536192"/>
            <a:ext cx="1051560" cy="40640"/>
          </a:xfrm>
          <a:prstGeom prst="rect">
            <a:avLst/>
          </a:prstGeom>
          <a:solidFill>
            <a:srgbClr val="1751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13848" y="635508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8717F"/>
                </a:solidFill>
                <a:latin typeface="Consolas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3550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8717F"/>
                </a:solidFill>
                <a:latin typeface="Segoe UI"/>
              </a:rPr>
              <a:t>Pruebas y validación de software  ·  Taller de pruebas de integración y sistema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965960"/>
            <a:ext cx="5623560" cy="2148840"/>
          </a:xfrm>
          <a:prstGeom prst="rect">
            <a:avLst/>
          </a:prstGeom>
          <a:solidFill>
            <a:srgbClr val="FBFCFE"/>
          </a:solidFill>
          <a:ln w="12700">
            <a:solidFill>
              <a:srgbClr val="BEC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91440" bIns="91440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50" b="1" i="0">
                <a:solidFill>
                  <a:srgbClr val="68717F"/>
                </a:solidFill>
                <a:latin typeface="Consolas"/>
              </a:rPr>
              <a:t>consumidor: nombra el estado que necesita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250" b="1" i="0">
                <a:solidFill>
                  <a:srgbClr val="17518F"/>
                </a:solidFill>
                <a:latin typeface="Consolas"/>
              </a:rPr>
              <a:t>.given("ya existe un votante con id 901")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250" b="0" i="0">
                <a:solidFill>
                  <a:srgbClr val="38424F"/>
                </a:solidFill>
                <a:latin typeface="Consolas"/>
              </a:rPr>
              <a:t>.uponReceiving("un registro duplicado")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250" b="0" i="0">
                <a:solidFill>
                  <a:srgbClr val="38424F"/>
                </a:solidFill>
                <a:latin typeface="Consolas"/>
              </a:rPr>
              <a:t>.path("/register").method("POST")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250" b="0" i="0">
                <a:solidFill>
                  <a:srgbClr val="38424F"/>
                </a:solidFill>
                <a:latin typeface="Consolas"/>
              </a:rPr>
              <a:t>.willRespondWith()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250" b="0" i="0">
                <a:solidFill>
                  <a:srgbClr val="38424F"/>
                </a:solidFill>
                <a:latin typeface="Consolas"/>
              </a:rPr>
              <a:t>.status(200).body("DUPLICATED")</a:t>
            </a:r>
          </a:p>
        </p:txBody>
      </p:sp>
      <p:sp>
        <p:nvSpPr>
          <p:cNvPr id="9" name="Rectangle 8"/>
          <p:cNvSpPr/>
          <p:nvPr/>
        </p:nvSpPr>
        <p:spPr>
          <a:xfrm>
            <a:off x="6537960" y="1965960"/>
            <a:ext cx="4937760" cy="2148840"/>
          </a:xfrm>
          <a:prstGeom prst="rect">
            <a:avLst/>
          </a:prstGeom>
          <a:solidFill>
            <a:srgbClr val="FBFCFE"/>
          </a:solidFill>
          <a:ln w="12700">
            <a:solidFill>
              <a:srgbClr val="BEC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91440" bIns="91440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50" b="1" i="0">
                <a:solidFill>
                  <a:srgbClr val="68717F"/>
                </a:solidFill>
                <a:latin typeface="Consolas"/>
              </a:rPr>
              <a:t>proveedor: sabe cómo montarlo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250" b="1" i="0">
                <a:solidFill>
                  <a:srgbClr val="17518F"/>
                </a:solidFill>
                <a:latin typeface="Consolas"/>
              </a:rPr>
              <a:t>@State("ya existe un votante con id 901")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250" b="0" i="0">
                <a:solidFill>
                  <a:srgbClr val="38424F"/>
                </a:solidFill>
                <a:latin typeface="Consolas"/>
              </a:rPr>
              <a:t>void conVotante901() {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250" b="0" i="0">
                <a:solidFill>
                  <a:srgbClr val="38424F"/>
                </a:solidFill>
                <a:latin typeface="Consolas"/>
              </a:rPr>
              <a:t>  registry.registerVoter(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250" b="0" i="0">
                <a:solidFill>
                  <a:srgbClr val="38424F"/>
                </a:solidFill>
                <a:latin typeface="Consolas"/>
              </a:rPr>
              <a:t>      new Person("Luis", 901, 40, MALE, true));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250" b="0" i="0">
                <a:solidFill>
                  <a:srgbClr val="38424F"/>
                </a:solidFill>
                <a:latin typeface="Consolas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4389120"/>
            <a:ext cx="1076248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750" b="1">
                <a:solidFill>
                  <a:srgbClr val="141A24"/>
                </a:solidFill>
                <a:latin typeface="Segoe UI"/>
              </a:rPr>
              <a:t>El consumidor no sabe que hay una tabla, y no debe saberlo.</a:t>
            </a:r>
            <a:r>
              <a:rPr sz="1750" b="0">
                <a:solidFill>
                  <a:srgbClr val="38424F"/>
                </a:solidFill>
                <a:latin typeface="Segoe UI"/>
              </a:rPr>
              <a:t>  Pide un estado por su nombre; el proveedor decide si eso significa un INSERT, un contenedor o un archivo. Ese desacople es el punto entero del contract testing.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5394960"/>
            <a:ext cx="10762488" cy="960120"/>
          </a:xfrm>
          <a:prstGeom prst="rect">
            <a:avLst/>
          </a:prstGeom>
          <a:solidFill>
            <a:srgbClr val="DDE8F6"/>
          </a:solidFill>
          <a:ln w="13970">
            <a:solidFill>
              <a:srgbClr val="1751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500" b="1">
                <a:solidFill>
                  <a:srgbClr val="141A24"/>
                </a:solidFill>
                <a:latin typeface="Segoe UI"/>
              </a:rPr>
              <a:t>Compruébelo usted mismo: </a:t>
            </a:r>
            <a:r>
              <a:rPr sz="1500" b="0">
                <a:solidFill>
                  <a:srgbClr val="38424F"/>
                </a:solidFill>
                <a:latin typeface="Segoe UI"/>
              </a:rPr>
              <a:t>1. mvn clean verify, todo en verde.   2. En RegistryController cambie return r.name() por un JSON.   3. mvn verify: RegistryControllerIT puede seguir pasando, pero el pacto falla.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62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140">
                <a:solidFill>
                  <a:srgbClr val="68717F"/>
                </a:solidFill>
                <a:latin typeface="Segoe UI"/>
              </a:rPr>
              <a:t>BLOQUE 5  ·  EJECUCIÓN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13232"/>
            <a:ext cx="966520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41A24"/>
                </a:solidFill>
                <a:latin typeface="Segoe UI"/>
              </a:rPr>
              <a:t>El nombre del archivo decide qué se ejecuta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536192"/>
            <a:ext cx="1051560" cy="40640"/>
          </a:xfrm>
          <a:prstGeom prst="rect">
            <a:avLst/>
          </a:prstGeom>
          <a:solidFill>
            <a:srgbClr val="1751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13848" y="635508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8717F"/>
                </a:solidFill>
                <a:latin typeface="Consolas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3550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8717F"/>
                </a:solidFill>
                <a:latin typeface="Segoe UI"/>
              </a:rPr>
              <a:t>Pruebas y validación de software  ·  Taller de pruebas de integración y sistema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965960"/>
            <a:ext cx="1600200" cy="420624"/>
          </a:xfrm>
          <a:prstGeom prst="rect">
            <a:avLst/>
          </a:prstGeom>
          <a:solidFill>
            <a:srgbClr val="DDE8F6"/>
          </a:solidFill>
          <a:ln w="15240">
            <a:solidFill>
              <a:srgbClr val="1751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41A24"/>
                </a:solidFill>
                <a:latin typeface="Consolas"/>
              </a:rPr>
              <a:t>validate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2450591" y="1965960"/>
            <a:ext cx="1600200" cy="420624"/>
          </a:xfrm>
          <a:prstGeom prst="rect">
            <a:avLst/>
          </a:prstGeom>
          <a:solidFill>
            <a:srgbClr val="DDE8F6"/>
          </a:solidFill>
          <a:ln w="15240">
            <a:solidFill>
              <a:srgbClr val="1751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41A24"/>
                </a:solidFill>
                <a:latin typeface="Consolas"/>
              </a:rPr>
              <a:t>compile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87952" y="1965960"/>
            <a:ext cx="1600200" cy="420624"/>
          </a:xfrm>
          <a:prstGeom prst="rect">
            <a:avLst/>
          </a:prstGeom>
          <a:solidFill>
            <a:srgbClr val="DDE8F6"/>
          </a:solidFill>
          <a:ln w="15240">
            <a:solidFill>
              <a:srgbClr val="1751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41A24"/>
                </a:solidFill>
                <a:latin typeface="Consolas"/>
              </a:rPr>
              <a:t>test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25312" y="1965960"/>
            <a:ext cx="1600200" cy="420624"/>
          </a:xfrm>
          <a:prstGeom prst="rect">
            <a:avLst/>
          </a:prstGeom>
          <a:solidFill>
            <a:srgbClr val="FBFCFE"/>
          </a:solidFill>
          <a:ln w="15240">
            <a:solidFill>
              <a:srgbClr val="BEC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8717F"/>
                </a:solidFill>
                <a:latin typeface="Consolas"/>
              </a:rPr>
              <a:t>package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62672" y="1965960"/>
            <a:ext cx="1600200" cy="420624"/>
          </a:xfrm>
          <a:prstGeom prst="rect">
            <a:avLst/>
          </a:prstGeom>
          <a:solidFill>
            <a:srgbClr val="FBFCFE"/>
          </a:solidFill>
          <a:ln w="15240">
            <a:solidFill>
              <a:srgbClr val="BEC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8717F"/>
                </a:solidFill>
                <a:latin typeface="Consolas"/>
              </a:rPr>
              <a:t>integration-test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400032" y="1965960"/>
            <a:ext cx="1600200" cy="420624"/>
          </a:xfrm>
          <a:prstGeom prst="rect">
            <a:avLst/>
          </a:prstGeom>
          <a:solidFill>
            <a:srgbClr val="FBFCFE"/>
          </a:solidFill>
          <a:ln w="15240">
            <a:solidFill>
              <a:srgbClr val="BEC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8717F"/>
                </a:solidFill>
                <a:latin typeface="Consolas"/>
              </a:rPr>
              <a:t>verify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450592"/>
            <a:ext cx="4937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7518F"/>
                </a:solidFill>
                <a:latin typeface="Segoe UI"/>
              </a:rPr>
              <a:t>lo que hace  mvn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25312" y="2450592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8717F"/>
                </a:solidFill>
                <a:latin typeface="Segoe UI"/>
              </a:rPr>
              <a:t>mvn verify llega hasta aquí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713232" y="2971800"/>
          <a:ext cx="10762488" cy="221284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114800"/>
                <a:gridCol w="3200400"/>
                <a:gridCol w="1691640"/>
                <a:gridCol w="1755648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68717F"/>
                          </a:solidFill>
                          <a:latin typeface="Segoe UI"/>
                        </a:rPr>
                        <a:t>Archivo</a:t>
                      </a:r>
                    </a:p>
                  </a:txBody>
                  <a:tcPr marL="82296" marR="82296" marT="36576" marB="36576" anchor="ctr">
                    <a:solidFill>
                      <a:srgbClr val="DFE4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68717F"/>
                          </a:solidFill>
                          <a:latin typeface="Segoe UI"/>
                        </a:rPr>
                        <a:t>Plugin que lo ejecuta</a:t>
                      </a:r>
                    </a:p>
                  </a:txBody>
                  <a:tcPr marL="82296" marR="82296" marT="36576" marB="36576" anchor="ctr">
                    <a:solidFill>
                      <a:srgbClr val="DFE4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68717F"/>
                          </a:solidFill>
                          <a:latin typeface="Segoe UI"/>
                        </a:rPr>
                        <a:t>mvn test</a:t>
                      </a:r>
                    </a:p>
                  </a:txBody>
                  <a:tcPr marL="82296" marR="82296" marT="36576" marB="36576" anchor="ctr">
                    <a:solidFill>
                      <a:srgbClr val="DFE4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68717F"/>
                          </a:solidFill>
                          <a:latin typeface="Segoe UI"/>
                        </a:rPr>
                        <a:t>mvn verify</a:t>
                      </a:r>
                    </a:p>
                  </a:txBody>
                  <a:tcPr marL="82296" marR="82296" marT="36576" marB="36576" anchor="ctr">
                    <a:solidFill>
                      <a:srgbClr val="DFE4E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38424F"/>
                          </a:solidFill>
                          <a:latin typeface="Consolas"/>
                        </a:rPr>
                        <a:t>RegistryWithMockTest.java</a:t>
                      </a:r>
                    </a:p>
                  </a:txBody>
                  <a:tcPr marL="82296" marR="82296" marT="36576" marB="36576" anchor="ctr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38424F"/>
                          </a:solidFill>
                          <a:latin typeface="Segoe UI"/>
                        </a:rPr>
                        <a:t>Surefire  (*Test.java)</a:t>
                      </a:r>
                    </a:p>
                  </a:txBody>
                  <a:tcPr marL="82296" marR="82296" marT="36576" marB="36576" anchor="ctr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B6B4C"/>
                          </a:solidFill>
                          <a:latin typeface="Segoe UI"/>
                        </a:rPr>
                        <a:t>corre</a:t>
                      </a:r>
                    </a:p>
                  </a:txBody>
                  <a:tcPr marL="82296" marR="82296" marT="36576" marB="36576" anchor="ctr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B6B4C"/>
                          </a:solidFill>
                          <a:latin typeface="Segoe UI"/>
                        </a:rPr>
                        <a:t>corre</a:t>
                      </a:r>
                    </a:p>
                  </a:txBody>
                  <a:tcPr marL="82296" marR="82296" marT="36576" marB="36576" anchor="ctr">
                    <a:solidFill>
                      <a:srgbClr val="FBFCF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38424F"/>
                          </a:solidFill>
                          <a:latin typeface="Consolas"/>
                        </a:rPr>
                        <a:t>RegistryIT.java</a:t>
                      </a:r>
                    </a:p>
                  </a:txBody>
                  <a:tcPr marL="82296" marR="82296" marT="36576" marB="36576" anchor="ctr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38424F"/>
                          </a:solidFill>
                          <a:latin typeface="Segoe UI"/>
                        </a:rPr>
                        <a:t>Failsafe  (*IT.java)</a:t>
                      </a:r>
                    </a:p>
                  </a:txBody>
                  <a:tcPr marL="82296" marR="82296" marT="36576" marB="36576" anchor="ctr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A5342D"/>
                          </a:solidFill>
                          <a:latin typeface="Segoe UI"/>
                        </a:rPr>
                        <a:t>no corre</a:t>
                      </a:r>
                    </a:p>
                  </a:txBody>
                  <a:tcPr marL="82296" marR="82296" marT="36576" marB="36576" anchor="ctr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B6B4C"/>
                          </a:solidFill>
                          <a:latin typeface="Segoe UI"/>
                        </a:rPr>
                        <a:t>corre</a:t>
                      </a:r>
                    </a:p>
                  </a:txBody>
                  <a:tcPr marL="82296" marR="82296" marT="36576" marB="36576" anchor="ctr">
                    <a:solidFill>
                      <a:srgbClr val="FBFCF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38424F"/>
                          </a:solidFill>
                          <a:latin typeface="Consolas"/>
                        </a:rPr>
                        <a:t>RegistryRepositoryPostgresIT.java</a:t>
                      </a:r>
                    </a:p>
                  </a:txBody>
                  <a:tcPr marL="82296" marR="82296" marT="36576" marB="36576" anchor="ctr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38424F"/>
                          </a:solidFill>
                          <a:latin typeface="Segoe UI"/>
                        </a:rPr>
                        <a:t>Failsafe  (*IT.java)</a:t>
                      </a:r>
                    </a:p>
                  </a:txBody>
                  <a:tcPr marL="82296" marR="82296" marT="36576" marB="36576" anchor="ctr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A5342D"/>
                          </a:solidFill>
                          <a:latin typeface="Segoe UI"/>
                        </a:rPr>
                        <a:t>no corre</a:t>
                      </a:r>
                    </a:p>
                  </a:txBody>
                  <a:tcPr marL="82296" marR="82296" marT="36576" marB="36576" anchor="ctr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B6B4C"/>
                          </a:solidFill>
                          <a:latin typeface="Segoe UI"/>
                        </a:rPr>
                        <a:t>corre</a:t>
                      </a:r>
                    </a:p>
                  </a:txBody>
                  <a:tcPr marL="82296" marR="82296" marT="36576" marB="36576" anchor="ctr">
                    <a:solidFill>
                      <a:srgbClr val="FBFCF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38424F"/>
                          </a:solidFill>
                          <a:latin typeface="Consolas"/>
                        </a:rPr>
                        <a:t>RegistryControllerIT.java</a:t>
                      </a:r>
                    </a:p>
                  </a:txBody>
                  <a:tcPr marL="82296" marR="82296" marT="36576" marB="36576" anchor="ctr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38424F"/>
                          </a:solidFill>
                          <a:latin typeface="Segoe UI"/>
                        </a:rPr>
                        <a:t>Failsafe  (*IT.java)</a:t>
                      </a:r>
                    </a:p>
                  </a:txBody>
                  <a:tcPr marL="82296" marR="82296" marT="36576" marB="36576" anchor="ctr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A5342D"/>
                          </a:solidFill>
                          <a:latin typeface="Segoe UI"/>
                        </a:rPr>
                        <a:t>no corre</a:t>
                      </a:r>
                    </a:p>
                  </a:txBody>
                  <a:tcPr marL="82296" marR="82296" marT="36576" marB="36576" anchor="ctr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B6B4C"/>
                          </a:solidFill>
                          <a:latin typeface="Segoe UI"/>
                        </a:rPr>
                        <a:t>corre</a:t>
                      </a:r>
                    </a:p>
                  </a:txBody>
                  <a:tcPr marL="82296" marR="82296" marT="36576" marB="36576" anchor="ctr">
                    <a:solidFill>
                      <a:srgbClr val="FBFCFE"/>
                    </a:solidFill>
                  </a:tcPr>
                </a:tc>
              </a:tr>
            </a:tbl>
          </a:graphicData>
        </a:graphic>
      </p:graphicFrame>
      <p:sp>
        <p:nvSpPr>
          <p:cNvPr id="17" name="Rectangle 16"/>
          <p:cNvSpPr/>
          <p:nvPr/>
        </p:nvSpPr>
        <p:spPr>
          <a:xfrm>
            <a:off x="713232" y="5349240"/>
            <a:ext cx="10762488" cy="960120"/>
          </a:xfrm>
          <a:prstGeom prst="rect">
            <a:avLst/>
          </a:prstGeom>
          <a:solidFill>
            <a:srgbClr val="F6EBD5"/>
          </a:solidFill>
          <a:ln w="13970">
            <a:solidFill>
              <a:srgbClr val="8B5E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500" b="1">
                <a:solidFill>
                  <a:srgbClr val="141A24"/>
                </a:solidFill>
                <a:latin typeface="Segoe UI"/>
              </a:rPr>
              <a:t>El falso verde más común: </a:t>
            </a:r>
            <a:r>
              <a:rPr sz="1500" b="0">
                <a:solidFill>
                  <a:srgbClr val="38424F"/>
                </a:solidFill>
                <a:latin typeface="Segoe UI"/>
              </a:rPr>
              <a:t>Si usa mvn test para verificar su trabajo verá BUILD SUCCESS sin haber probado ninguna integración. Y JaCoCo necesita sus cuatro ejecuciones: sin las de integración, lo que cubren los *IT no cuenta y el 80% global es inalcanzable.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62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140">
                <a:solidFill>
                  <a:srgbClr val="68717F"/>
                </a:solidFill>
                <a:latin typeface="Segoe UI"/>
              </a:rPr>
              <a:t>BLOQUE 5  ·  MATRIZ DE PRUEBAS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13232"/>
            <a:ext cx="966520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41A24"/>
                </a:solidFill>
                <a:latin typeface="Segoe UI"/>
              </a:rPr>
              <a:t>Qué prueba atrapa qué defecto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536192"/>
            <a:ext cx="1051560" cy="40640"/>
          </a:xfrm>
          <a:prstGeom prst="rect">
            <a:avLst/>
          </a:prstGeom>
          <a:solidFill>
            <a:srgbClr val="1751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13848" y="635508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8717F"/>
                </a:solidFill>
                <a:latin typeface="Consolas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3550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8717F"/>
                </a:solidFill>
                <a:latin typeface="Segoe UI"/>
              </a:rPr>
              <a:t>Pruebas y validación de software  ·  Taller de pruebas de integración y sistema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13232" y="1965960"/>
          <a:ext cx="10762488" cy="323697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636008"/>
                <a:gridCol w="1225296"/>
                <a:gridCol w="1225296"/>
                <a:gridCol w="1225296"/>
                <a:gridCol w="1225296"/>
                <a:gridCol w="1225296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68717F"/>
                          </a:solidFill>
                          <a:latin typeface="Segoe UI"/>
                        </a:rPr>
                        <a:t>Defecto</a:t>
                      </a:r>
                    </a:p>
                  </a:txBody>
                  <a:tcPr marL="82296" marR="82296" marT="36576" marB="36576" anchor="ctr">
                    <a:solidFill>
                      <a:srgbClr val="DFE4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68717F"/>
                          </a:solidFill>
                          <a:latin typeface="Segoe UI"/>
                        </a:rPr>
                        <a:t>Mock</a:t>
                      </a:r>
                    </a:p>
                  </a:txBody>
                  <a:tcPr marL="82296" marR="82296" marT="36576" marB="36576" anchor="ctr">
                    <a:solidFill>
                      <a:srgbClr val="DFE4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68717F"/>
                          </a:solidFill>
                          <a:latin typeface="Segoe UI"/>
                        </a:rPr>
                        <a:t>H2</a:t>
                      </a:r>
                    </a:p>
                  </a:txBody>
                  <a:tcPr marL="82296" marR="82296" marT="36576" marB="36576" anchor="ctr">
                    <a:solidFill>
                      <a:srgbClr val="DFE4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68717F"/>
                          </a:solidFill>
                          <a:latin typeface="Segoe UI"/>
                        </a:rPr>
                        <a:t>Testcont.</a:t>
                      </a:r>
                    </a:p>
                  </a:txBody>
                  <a:tcPr marL="82296" marR="82296" marT="36576" marB="36576" anchor="ctr">
                    <a:solidFill>
                      <a:srgbClr val="DFE4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68717F"/>
                          </a:solidFill>
                          <a:latin typeface="Segoe UI"/>
                        </a:rPr>
                        <a:t>HTTP</a:t>
                      </a:r>
                    </a:p>
                  </a:txBody>
                  <a:tcPr marL="82296" marR="82296" marT="36576" marB="36576" anchor="ctr">
                    <a:solidFill>
                      <a:srgbClr val="DFE4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68717F"/>
                          </a:solidFill>
                          <a:latin typeface="Segoe UI"/>
                        </a:rPr>
                        <a:t>Pact</a:t>
                      </a:r>
                    </a:p>
                  </a:txBody>
                  <a:tcPr marL="82296" marR="82296" marT="36576" marB="36576" anchor="ctr">
                    <a:solidFill>
                      <a:srgbClr val="DFE4EC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F"/>
                          </a:solidFill>
                          <a:latin typeface="Segoe UI"/>
                        </a:rPr>
                        <a:t>Guardas de edad en el orden equivocado</a:t>
                      </a:r>
                    </a:p>
                  </a:txBody>
                  <a:tcPr marL="82296" marR="82296" marT="36576" marB="36576" anchor="ctr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6B4C"/>
                          </a:solidFill>
                          <a:latin typeface="Segoe UI"/>
                        </a:rPr>
                        <a:t>sí</a:t>
                      </a:r>
                    </a:p>
                  </a:txBody>
                  <a:tcPr marL="82296" marR="82296" marT="36576" marB="36576" anchor="ctr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6B4C"/>
                          </a:solidFill>
                          <a:latin typeface="Segoe UI"/>
                        </a:rPr>
                        <a:t>sí</a:t>
                      </a:r>
                    </a:p>
                  </a:txBody>
                  <a:tcPr marL="82296" marR="82296" marT="36576" marB="36576" anchor="ctr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6B4C"/>
                          </a:solidFill>
                          <a:latin typeface="Segoe UI"/>
                        </a:rPr>
                        <a:t>sí</a:t>
                      </a:r>
                    </a:p>
                  </a:txBody>
                  <a:tcPr marL="82296" marR="82296" marT="36576" marB="36576" anchor="ctr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6B4C"/>
                          </a:solidFill>
                          <a:latin typeface="Segoe UI"/>
                        </a:rPr>
                        <a:t>sí</a:t>
                      </a:r>
                    </a:p>
                  </a:txBody>
                  <a:tcPr marL="82296" marR="82296" marT="36576" marB="36576" anchor="ctr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A5342D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82296" marR="82296" marT="36576" marB="36576" anchor="ctr">
                    <a:solidFill>
                      <a:srgbClr val="FBFCFE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F"/>
                          </a:solidFill>
                          <a:latin typeface="Segoe UI"/>
                        </a:rPr>
                        <a:t>El SELECT consulta la columna equivocada</a:t>
                      </a:r>
                    </a:p>
                  </a:txBody>
                  <a:tcPr marL="82296" marR="82296" marT="36576" marB="36576" anchor="ctr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A5342D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82296" marR="82296" marT="36576" marB="36576" anchor="ctr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6B4C"/>
                          </a:solidFill>
                          <a:latin typeface="Segoe UI"/>
                        </a:rPr>
                        <a:t>sí</a:t>
                      </a:r>
                    </a:p>
                  </a:txBody>
                  <a:tcPr marL="82296" marR="82296" marT="36576" marB="36576" anchor="ctr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6B4C"/>
                          </a:solidFill>
                          <a:latin typeface="Segoe UI"/>
                        </a:rPr>
                        <a:t>sí</a:t>
                      </a:r>
                    </a:p>
                  </a:txBody>
                  <a:tcPr marL="82296" marR="82296" marT="36576" marB="36576" anchor="ctr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6B4C"/>
                          </a:solidFill>
                          <a:latin typeface="Segoe UI"/>
                        </a:rPr>
                        <a:t>sí</a:t>
                      </a:r>
                    </a:p>
                  </a:txBody>
                  <a:tcPr marL="82296" marR="82296" marT="36576" marB="36576" anchor="ctr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A5342D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82296" marR="82296" marT="36576" marB="36576" anchor="ctr">
                    <a:solidFill>
                      <a:srgbClr val="FBFCFE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F"/>
                          </a:solidFill>
                          <a:latin typeface="Segoe UI"/>
                        </a:rPr>
                        <a:t>save() nunca confirma la transacción</a:t>
                      </a:r>
                    </a:p>
                  </a:txBody>
                  <a:tcPr marL="82296" marR="82296" marT="36576" marB="36576" anchor="ctr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A5342D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82296" marR="82296" marT="36576" marB="36576" anchor="ctr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8B5E12"/>
                          </a:solidFill>
                          <a:latin typeface="Segoe UI"/>
                        </a:rPr>
                        <a:t>depende</a:t>
                      </a:r>
                    </a:p>
                  </a:txBody>
                  <a:tcPr marL="82296" marR="82296" marT="36576" marB="36576" anchor="ctr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8B5E12"/>
                          </a:solidFill>
                          <a:latin typeface="Segoe UI"/>
                        </a:rPr>
                        <a:t>depende</a:t>
                      </a:r>
                    </a:p>
                  </a:txBody>
                  <a:tcPr marL="82296" marR="82296" marT="36576" marB="36576" anchor="ctr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8B5E12"/>
                          </a:solidFill>
                          <a:latin typeface="Segoe UI"/>
                        </a:rPr>
                        <a:t>depende</a:t>
                      </a:r>
                    </a:p>
                  </a:txBody>
                  <a:tcPr marL="82296" marR="82296" marT="36576" marB="36576" anchor="ctr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A5342D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82296" marR="82296" marT="36576" marB="36576" anchor="ctr">
                    <a:solidFill>
                      <a:srgbClr val="FBFCFE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F"/>
                          </a:solidFill>
                          <a:latin typeface="Segoe UI"/>
                        </a:rPr>
                        <a:t>Identificador SQL que H2 pliega distinto</a:t>
                      </a:r>
                    </a:p>
                  </a:txBody>
                  <a:tcPr marL="82296" marR="82296" marT="36576" marB="36576" anchor="ctr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A5342D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82296" marR="82296" marT="36576" marB="36576" anchor="ctr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A5342D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82296" marR="82296" marT="36576" marB="36576" anchor="ctr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6B4C"/>
                          </a:solidFill>
                          <a:latin typeface="Segoe UI"/>
                        </a:rPr>
                        <a:t>sí</a:t>
                      </a:r>
                    </a:p>
                  </a:txBody>
                  <a:tcPr marL="82296" marR="82296" marT="36576" marB="36576" anchor="ctr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A5342D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82296" marR="82296" marT="36576" marB="36576" anchor="ctr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A5342D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82296" marR="82296" marT="36576" marB="36576" anchor="ctr">
                    <a:solidFill>
                      <a:srgbClr val="FBFCFE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F"/>
                          </a:solidFill>
                          <a:latin typeface="Segoe UI"/>
                        </a:rPr>
                        <a:t>Gender en minúsculas revienta el mapeo</a:t>
                      </a:r>
                    </a:p>
                  </a:txBody>
                  <a:tcPr marL="82296" marR="82296" marT="36576" marB="36576" anchor="ctr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A5342D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82296" marR="82296" marT="36576" marB="36576" anchor="ctr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A5342D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82296" marR="82296" marT="36576" marB="36576" anchor="ctr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A5342D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82296" marR="82296" marT="36576" marB="36576" anchor="ctr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6B4C"/>
                          </a:solidFill>
                          <a:latin typeface="Segoe UI"/>
                        </a:rPr>
                        <a:t>sí</a:t>
                      </a:r>
                    </a:p>
                  </a:txBody>
                  <a:tcPr marL="82296" marR="82296" marT="36576" marB="36576" anchor="ctr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A5342D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82296" marR="82296" marT="36576" marB="36576" anchor="ctr">
                    <a:solidFill>
                      <a:srgbClr val="FBFCFE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F"/>
                          </a:solidFill>
                          <a:latin typeface="Segoe UI"/>
                        </a:rPr>
                        <a:t>La respuesta cambia de texto plano a JSON</a:t>
                      </a:r>
                    </a:p>
                  </a:txBody>
                  <a:tcPr marL="82296" marR="82296" marT="36576" marB="36576" anchor="ctr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A5342D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82296" marR="82296" marT="36576" marB="36576" anchor="ctr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A5342D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82296" marR="82296" marT="36576" marB="36576" anchor="ctr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A5342D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82296" marR="82296" marT="36576" marB="36576" anchor="ctr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A5342D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82296" marR="82296" marT="36576" marB="36576" anchor="ctr">
                    <a:solidFill>
                      <a:srgbClr val="FBFC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6B4C"/>
                          </a:solidFill>
                          <a:latin typeface="Segoe UI"/>
                        </a:rPr>
                        <a:t>sí</a:t>
                      </a:r>
                    </a:p>
                  </a:txBody>
                  <a:tcPr marL="82296" marR="82296" marT="36576" marB="36576" anchor="ctr">
                    <a:solidFill>
                      <a:srgbClr val="FBFCFE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13232" y="5440680"/>
            <a:ext cx="10762488" cy="914400"/>
          </a:xfrm>
          <a:prstGeom prst="rect">
            <a:avLst/>
          </a:prstGeom>
          <a:solidFill>
            <a:srgbClr val="DDE8F6"/>
          </a:solidFill>
          <a:ln w="13970">
            <a:solidFill>
              <a:srgbClr val="1751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550" b="1">
                <a:solidFill>
                  <a:srgbClr val="141A24"/>
                </a:solidFill>
                <a:latin typeface="Segoe UI"/>
              </a:rPr>
              <a:t>Léala por columnas. </a:t>
            </a:r>
            <a:r>
              <a:rPr sz="1550" b="0">
                <a:solidFill>
                  <a:srgbClr val="38424F"/>
                </a:solidFill>
                <a:latin typeface="Segoe UI"/>
              </a:rPr>
              <a:t>Ninguna columna gana siempre, y ninguna fila la atrapan todas. Por eso el taller pide las cinco técnicas y no la mejor. Esta tabla, con sus casos reales, es uno de los entregables.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62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140">
                <a:solidFill>
                  <a:srgbClr val="68717F"/>
                </a:solidFill>
                <a:latin typeface="Segoe UI"/>
              </a:rPr>
              <a:t>BLOQUE 5  ·  ENTREGA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13232"/>
            <a:ext cx="966520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41A24"/>
                </a:solidFill>
                <a:latin typeface="Segoe UI"/>
              </a:rPr>
              <a:t>Qué se califica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536192"/>
            <a:ext cx="1051560" cy="40640"/>
          </a:xfrm>
          <a:prstGeom prst="rect">
            <a:avLst/>
          </a:prstGeom>
          <a:solidFill>
            <a:srgbClr val="1751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13848" y="635508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8717F"/>
                </a:solidFill>
                <a:latin typeface="Consolas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3550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8717F"/>
                </a:solidFill>
                <a:latin typeface="Segoe UI"/>
              </a:rPr>
              <a:t>Pruebas y validación de software  ·  Taller de pruebas de integración y sistema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892807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518F"/>
                </a:solidFill>
                <a:latin typeface="Consola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" y="1856231"/>
            <a:ext cx="47548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141A24"/>
                </a:solidFill>
                <a:latin typeface="Segoe UI"/>
              </a:rPr>
              <a:t>Repositorio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8717F"/>
                </a:solidFill>
                <a:latin typeface="Segoe UI"/>
              </a:rPr>
              <a:t>Rama principal que compile con mvn clean verify, .gitignore e integrantes.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74320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518F"/>
                </a:solidFill>
                <a:latin typeface="Consola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" y="2706624"/>
            <a:ext cx="47548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141A24"/>
                </a:solidFill>
                <a:latin typeface="Segoe UI"/>
              </a:rPr>
              <a:t>Wiki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8717F"/>
                </a:solidFill>
                <a:latin typeface="Segoe UI"/>
              </a:rPr>
              <a:t>Documentación con enlaces a cada clase y a cada test.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59359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518F"/>
                </a:solidFill>
                <a:latin typeface="Consola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" y="3557016"/>
            <a:ext cx="47548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141A24"/>
                </a:solidFill>
                <a:latin typeface="Segoe UI"/>
              </a:rPr>
              <a:t>Pruebas con H2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8717F"/>
                </a:solidFill>
                <a:latin typeface="Segoe UI"/>
              </a:rPr>
              <a:t>Al menos tres, en formato AAA, con aserciones que consulten la base.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4443983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518F"/>
                </a:solidFill>
                <a:latin typeface="Consolas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144" y="4407408"/>
            <a:ext cx="47548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141A24"/>
                </a:solidFill>
                <a:latin typeface="Segoe UI"/>
              </a:rPr>
              <a:t>Pruebas con mocks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8717F"/>
                </a:solidFill>
                <a:latin typeface="Segoe UI"/>
              </a:rPr>
              <a:t>Al menos dos, usando when, verify y never correctamente.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5294375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518F"/>
                </a:solidFill>
                <a:latin typeface="Consolas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144" y="5257800"/>
            <a:ext cx="47548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141A24"/>
                </a:solidFill>
                <a:latin typeface="Segoe UI"/>
              </a:rPr>
              <a:t>Pruebas de sistema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8717F"/>
                </a:solidFill>
                <a:latin typeface="Segoe UI"/>
              </a:rPr>
              <a:t>Al menos dos por HTTP, cubriendo respuesta correcta y error.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1072" y="1892807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518F"/>
                </a:solidFill>
                <a:latin typeface="Consolas"/>
              </a:rPr>
              <a:t>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9983" y="1856231"/>
            <a:ext cx="47548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141A24"/>
                </a:solidFill>
                <a:latin typeface="Segoe UI"/>
              </a:rPr>
              <a:t>Cobertura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8717F"/>
                </a:solidFill>
                <a:latin typeface="Segoe UI"/>
              </a:rPr>
              <a:t>JaCoCo combinado: target/site/jacoco y jacoco-it.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1072" y="274320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518F"/>
                </a:solidFill>
                <a:latin typeface="Consolas"/>
              </a:rPr>
              <a:t>07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9983" y="2706624"/>
            <a:ext cx="47548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141A24"/>
                </a:solidFill>
                <a:latin typeface="Segoe UI"/>
              </a:rPr>
              <a:t>Matriz de pruebas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8717F"/>
                </a:solidFill>
                <a:latin typeface="Segoe UI"/>
              </a:rPr>
              <a:t>Caso, entrada, resultado esperado, tipo y test que lo valida.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1072" y="359359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518F"/>
                </a:solidFill>
                <a:latin typeface="Consolas"/>
              </a:rPr>
              <a:t>08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9983" y="3557016"/>
            <a:ext cx="47548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141A24"/>
                </a:solidFill>
                <a:latin typeface="Segoe UI"/>
              </a:rPr>
              <a:t>Gestión de defectos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8717F"/>
                </a:solidFill>
                <a:latin typeface="Segoe UI"/>
              </a:rPr>
              <a:t>defectos.md con al menos un defecto real, con evidencia.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91072" y="4443983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518F"/>
                </a:solidFill>
                <a:latin typeface="Consolas"/>
              </a:rPr>
              <a:t>09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9983" y="4407408"/>
            <a:ext cx="47548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141A24"/>
                </a:solidFill>
                <a:latin typeface="Segoe UI"/>
              </a:rPr>
              <a:t>Reflexión final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8717F"/>
                </a:solidFill>
                <a:latin typeface="Segoe UI"/>
              </a:rPr>
              <a:t>Qué capa costó más probar, y qué aporta cada técnica.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91072" y="5257800"/>
            <a:ext cx="5184648" cy="868680"/>
          </a:xfrm>
          <a:prstGeom prst="rect">
            <a:avLst/>
          </a:prstGeom>
          <a:solidFill>
            <a:srgbClr val="DDE8F6"/>
          </a:solidFill>
          <a:ln w="13970">
            <a:solidFill>
              <a:srgbClr val="1751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500" b="0">
                <a:solidFill>
                  <a:srgbClr val="38424F"/>
                </a:solidFill>
                <a:latin typeface="Segoe UI"/>
              </a:rPr>
              <a:t>La rúbrica premia que las pruebas verifiquen persistencia real, no que sean muchas.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10762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140">
                <a:solidFill>
                  <a:srgbClr val="C8D4E4"/>
                </a:solidFill>
                <a:latin typeface="Segoe UI"/>
              </a:rPr>
              <a:t>PARA LLEVARSE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13232"/>
            <a:ext cx="966520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FFFFFF"/>
                </a:solidFill>
                <a:latin typeface="Segoe UI"/>
              </a:rPr>
              <a:t>Cuatro frases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536192"/>
            <a:ext cx="1051560" cy="40640"/>
          </a:xfrm>
          <a:prstGeom prst="rect">
            <a:avLst/>
          </a:prstGeom>
          <a:solidFill>
            <a:srgbClr val="C8D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13848" y="635508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8D4E4"/>
                </a:solidFill>
                <a:latin typeface="Consolas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3550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8D4E4"/>
                </a:solidFill>
                <a:latin typeface="Segoe UI"/>
              </a:rPr>
              <a:t>Pruebas y validación de software  ·  Taller de pruebas de integración y sistema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2048256"/>
            <a:ext cx="38100" cy="658368"/>
          </a:xfrm>
          <a:prstGeom prst="rect">
            <a:avLst/>
          </a:prstGeom>
          <a:solidFill>
            <a:srgbClr val="6FA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2011680"/>
            <a:ext cx="104241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1" i="0">
                <a:solidFill>
                  <a:srgbClr val="FFFFFF"/>
                </a:solidFill>
                <a:latin typeface="Segoe UI"/>
              </a:rPr>
              <a:t>Una prueba solo encuentra defectos en el código que ejecuta de verdad.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8D4E4"/>
                </a:solidFill>
                <a:latin typeface="Segoe UI"/>
              </a:rPr>
              <a:t>Todo lo demás es confianza, no verificación.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3072384"/>
            <a:ext cx="38100" cy="658368"/>
          </a:xfrm>
          <a:prstGeom prst="rect">
            <a:avLst/>
          </a:prstGeom>
          <a:solidFill>
            <a:srgbClr val="6FA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3035808"/>
            <a:ext cx="104241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1" i="0">
                <a:solidFill>
                  <a:srgbClr val="FFFFFF"/>
                </a:solidFill>
                <a:latin typeface="Segoe UI"/>
              </a:rPr>
              <a:t>Un mock responde lo que usted le dijo.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8D4E4"/>
                </a:solidFill>
                <a:latin typeface="Segoe UI"/>
              </a:rPr>
              <a:t>Es rapidísimo y por eso mismo no puede contradecirle.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4096512"/>
            <a:ext cx="38100" cy="658368"/>
          </a:xfrm>
          <a:prstGeom prst="rect">
            <a:avLst/>
          </a:prstGeom>
          <a:solidFill>
            <a:srgbClr val="6FA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4059936"/>
            <a:ext cx="104241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1" i="0">
                <a:solidFill>
                  <a:srgbClr val="FFFFFF"/>
                </a:solidFill>
                <a:latin typeface="Segoe UI"/>
              </a:rPr>
              <a:t>Si no consulta el otro lado de la frontera, no está integrando.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8D4E4"/>
                </a:solidFill>
                <a:latin typeface="Segoe UI"/>
              </a:rPr>
              <a:t>assertEquals sobre el valor devuelto no prueba que se haya guardado nada.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5120640"/>
            <a:ext cx="38100" cy="658368"/>
          </a:xfrm>
          <a:prstGeom prst="rect">
            <a:avLst/>
          </a:prstGeom>
          <a:solidFill>
            <a:srgbClr val="6FA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" y="5084064"/>
            <a:ext cx="104241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1" i="0">
                <a:solidFill>
                  <a:srgbClr val="FFFFFF"/>
                </a:solidFill>
                <a:latin typeface="Segoe UI"/>
              </a:rPr>
              <a:t>El nombre del archivo decide si su prueba corre.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8D4E4"/>
                </a:solidFill>
                <a:latin typeface="Segoe UI"/>
              </a:rPr>
              <a:t>*Test.java en mvn test; *IT.java solo en mvn verify.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6172200"/>
            <a:ext cx="107624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00" b="0">
                <a:solidFill>
                  <a:srgbClr val="C8D4E4"/>
                </a:solidFill>
                <a:latin typeface="Segoe UI"/>
              </a:rPr>
              <a:t>Complemento visual interactivo del taller:  </a:t>
            </a:r>
            <a:r>
              <a:rPr sz="1300" b="0">
                <a:solidFill>
                  <a:srgbClr val="FFFFFF"/>
                </a:solidFill>
                <a:latin typeface="Consolas"/>
              </a:rPr>
              <a:t>pruebas_integracion_visual.html</a:t>
            </a:r>
            <a:r>
              <a:rPr sz="1300" b="0">
                <a:solidFill>
                  <a:srgbClr val="C8D4E4"/>
                </a:solidFill>
                <a:latin typeface="Segoe UI"/>
              </a:rPr>
              <a:t>  en el repositorio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